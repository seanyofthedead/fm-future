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c:v>
                </c:pt>
              </c:strCache>
            </c:strRef>
          </c:tx>
          <c:spPr>
            <a:solidFill>
              <a:srgbClr val="5A6568"/>
            </a:solidFill>
            <a:effectLst/>
          </c:spPr>
          <c:invertIfNegative val="0"/>
          <c:dLbls>
            <c:numFmt formatCode="0&quot;%&quot;" sourceLinked="0"/>
            <c:txPr>
              <a:bodyPr/>
              <a:lstStyle/>
              <a:p>
                <a:pPr>
                  <a:defRPr b="1" i="0" strike="noStrike" sz="1300" u="none">
                    <a:solidFill>
                      <a:srgbClr val="1B1B1B"/>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568"/>
              </a:solidFill>
              <a:effectLst/>
            </c:spPr>
          </c:dPt>
          <c:dPt>
            <c:idx val="1"/>
            <c:invertIfNegative val="0"/>
            <c:bubble3D val="0"/>
            <c:spPr>
              <a:solidFill>
                <a:srgbClr val="31863E"/>
              </a:solidFill>
              <a:effectLst/>
            </c:spPr>
          </c:dPt>
          <c:dPt>
            <c:idx val="2"/>
            <c:invertIfNegative val="0"/>
            <c:bubble3D val="0"/>
            <c:spPr>
              <a:solidFill>
                <a:srgbClr val="31863E"/>
              </a:solidFill>
              <a:effectLst/>
            </c:spPr>
          </c:dPt>
          <c:dPt>
            <c:idx val="3"/>
            <c:invertIfNegative val="0"/>
            <c:bubble3D val="0"/>
            <c:spPr>
              <a:solidFill>
                <a:srgbClr val="5A6568"/>
              </a:solidFill>
              <a:effectLst/>
            </c:spPr>
          </c:dPt>
          <c:cat>
            <c:multiLvlStrRef>
              <c:f>Sheet1!$A$2:$A$5</c:f>
              <c:multiLvlStrCache>
                <c:ptCount val="4"/>
                <c:lvl>
                  <c:pt idx="0">
                    <c:v>Defining
the problem</c:v>
                  </c:pt>
                  <c:pt idx="1">
                    <c:v>Accelerating
the mission</c:v>
                  </c:pt>
                  <c:pt idx="2">
                    <c:v>Advancing the
state of the art</c:v>
                  </c:pt>
                  <c:pt idx="3">
                    <c:v>Business
model</c:v>
                  </c:pt>
                </c:lvl>
              </c:multiLvlStrCache>
            </c:multiLvlStrRef>
          </c:cat>
          <c:val>
            <c:numRef>
              <c:f>Sheet1!$B$2:$B$5</c:f>
              <c:numCache>
                <c:formatCode>General</c:formatCode>
                <c:ptCount val="4"/>
                <c:pt idx="0">
                  <c:v>15</c:v>
                </c:pt>
                <c:pt idx="1">
                  <c:v>40</c:v>
                </c:pt>
                <c:pt idx="2">
                  <c:v>35</c:v>
                </c:pt>
                <c:pt idx="3">
                  <c:v>10</c:v>
                </c:pt>
              </c:numCache>
            </c:numRef>
          </c:val>
        </c:ser>
        <c:dLbls>
          <c:numFmt formatCode="0&quot;%&quot;" sourceLinked="0"/>
          <c:txPr>
            <a:bodyPr/>
            <a:lstStyle/>
            <a:p>
              <a:pPr>
                <a:defRPr b="1" i="0" strike="noStrike" sz="1300" u="none">
                  <a:solidFill>
                    <a:srgbClr val="1B1B1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B1B"/>
                </a:solidFill>
                <a:latin typeface="Calibri"/>
              </a:defRPr>
            </a:pPr>
            <a:endParaRPr lang="en-US"/>
          </a:p>
        </c:txPr>
        <c:crossAx val="2094734552"/>
        <c:crosses val="autoZero"/>
        <c:auto val="1"/>
        <c:lblAlgn val="ctr"/>
        <c:noMultiLvlLbl val="1"/>
      </c:catAx>
      <c:valAx>
        <c:axId val="2094734552"/>
        <c:scaling>
          <c:orientation val="minMax"/>
          <c:max val="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Rev 2. Source of truth is docs/fm-future-storyboard.xlsx in the FM-future repo. Runtime unchanged at 4:41 against a 5:00 hard cap where over-length videos are not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4, 5 and 6 still need a decision or an input. They are listed again at the end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per the Tradewinds evaluation rubric: problem 15%, accelerating the mission 40%, advancing the state of the art 35%, business model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 0:00-0:08, 8s.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2. 0:08-0:28, 20s.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3. 0:28-0:46, 18s.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4. 0:46-1:01, 15s. Narrator: Sean (VO). CHANGED: On-screen text: dropped the retired "(working title - final name TBD)"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5. 1:01-1:15, 14s.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6. 1:15-1:29, 14s.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7. 1:29-1:42, 13s.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8. 1:42-1:55, 13s.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9. 1:55-2:07, 12s.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10. 2:07-2:19, 12s.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11. 2:19-2:31, 12s.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12. 2:31-2:47, 16s.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13. 2:47-3:05, 18s. Narrator: Sean (VO). CHANGED: Re-timed 16s to 18s. Narration now OPENS on "accelerating the mission" (40% of the rubric). New on-screen chip on the package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14. 3:05-3:15, 10s.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15. 3:15-3:31, 16s. Narrator: Sean (VO). CHANGED: OSW Comptroller removed from the narration and the on-screen client list. Now names the Army and ATC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16. 3:31-3:52, 21s. Narrator: Sean (VO). CHANGED: Re-timed 18s to 21s. Narration now OPENS on "advances the state of the art" (35% of the rubric). Overview strip re-headed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17. 3:52-4:10, 18s. Narrator: Sean (VO). CHANGED: TRL locked at 5-6. "Subscription-based" wording removed. VO note added: say SBIR as a word ("SY-ber").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18. 4:10-4:20, 10s. Narrator: Sean (VO). CHANGED: Re-timed 15s to 10s. All pricing and sales-model language removed; now a pure call to action. SEE OPEN DECISION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19. 4:20-4:34, 14s. Narrator: Sean (VO). CHANGED: CORRECTED: "Silver Aisle" does not exist. It is the SBIR/STTR Aisle. POC placeholder made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20. 4:34-4:41, 7s. Narrator: Sean (VO). Unchanged from Rev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slide to the production team with the shot slides. The build scripts referenced live in docs/video-master/ in the FM-future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B"/>
        </a:solidFill>
      </p:bgPr>
    </p:bg>
    <p:spTree>
      <p:nvGrpSpPr>
        <p:cNvPr id="1" name=""/>
        <p:cNvGrpSpPr/>
        <p:nvPr/>
      </p:nvGrpSpPr>
      <p:grpSpPr>
        <a:xfrm>
          <a:off x="0" y="0"/>
          <a:ext cx="0" cy="0"/>
          <a:chOff x="0" y="0"/>
          <a:chExt cx="0" cy="0"/>
        </a:xfrm>
      </p:grpSpPr>
      <p:sp>
        <p:nvSpPr>
          <p:cNvPr id="2" name="Text 0"/>
          <p:cNvSpPr/>
          <p:nvPr/>
        </p:nvSpPr>
        <p:spPr>
          <a:xfrm>
            <a:off x="731520" y="640080"/>
            <a:ext cx="5486400" cy="274320"/>
          </a:xfrm>
          <a:prstGeom prst="rect">
            <a:avLst/>
          </a:prstGeom>
          <a:noFill/>
          <a:ln/>
        </p:spPr>
        <p:txBody>
          <a:bodyPr wrap="square" lIns="0" tIns="0" rIns="0" bIns="0" rtlCol="0" anchor="ctr"/>
          <a:lstStyle/>
          <a:p>
            <a:pPr indent="0" marL="0">
              <a:buNone/>
            </a:pPr>
            <a:r>
              <a:rPr lang="en-US" sz="1200" b="1" spc="300" kern="0" dirty="0">
                <a:solidFill>
                  <a:srgbClr val="93D500"/>
                </a:solidFill>
                <a:latin typeface="Calibri" pitchFamily="34" charset="0"/>
                <a:ea typeface="Calibri" pitchFamily="34" charset="-122"/>
                <a:cs typeface="Calibri" pitchFamily="34" charset="-120"/>
              </a:rPr>
              <a:t>GUIDEHOUSE</a:t>
            </a:r>
            <a:endParaRPr lang="en-US" sz="1200" dirty="0"/>
          </a:p>
        </p:txBody>
      </p:sp>
      <p:sp>
        <p:nvSpPr>
          <p:cNvPr id="3" name="Text 1"/>
          <p:cNvSpPr/>
          <p:nvPr/>
        </p:nvSpPr>
        <p:spPr>
          <a:xfrm>
            <a:off x="731520" y="1371600"/>
            <a:ext cx="786384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Financial Management</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of the Future</a:t>
            </a:r>
            <a:endParaRPr lang="en-US" sz="4600" dirty="0"/>
          </a:p>
        </p:txBody>
      </p:sp>
      <p:sp>
        <p:nvSpPr>
          <p:cNvPr id="4" name="Text 2"/>
          <p:cNvSpPr/>
          <p:nvPr/>
        </p:nvSpPr>
        <p:spPr>
          <a:xfrm>
            <a:off x="731520" y="3200400"/>
            <a:ext cx="8229600" cy="365760"/>
          </a:xfrm>
          <a:prstGeom prst="rect">
            <a:avLst/>
          </a:prstGeom>
          <a:noFill/>
          <a:ln/>
        </p:spPr>
        <p:txBody>
          <a:bodyPr wrap="square" lIns="0" tIns="0" rIns="0" bIns="0" rtlCol="0" anchor="ctr"/>
          <a:lstStyle/>
          <a:p>
            <a:pPr indent="0" marL="0">
              <a:buNone/>
            </a:pPr>
            <a:r>
              <a:rPr lang="en-US" sz="1900" dirty="0">
                <a:solidFill>
                  <a:srgbClr val="93D500"/>
                </a:solidFill>
                <a:latin typeface="Calibri" pitchFamily="34" charset="0"/>
                <a:ea typeface="Calibri" pitchFamily="34" charset="-122"/>
                <a:cs typeface="Calibri" pitchFamily="34" charset="-120"/>
              </a:rPr>
              <a:t>Tradewinds submission video  |  Storyboard Revision 2</a:t>
            </a:r>
            <a:endParaRPr lang="en-US" sz="1900" dirty="0"/>
          </a:p>
        </p:txBody>
      </p:sp>
      <p:sp>
        <p:nvSpPr>
          <p:cNvPr id="5" name="Text 3"/>
          <p:cNvSpPr/>
          <p:nvPr/>
        </p:nvSpPr>
        <p:spPr>
          <a:xfrm>
            <a:off x="731520" y="3749040"/>
            <a:ext cx="7680960" cy="822960"/>
          </a:xfrm>
          <a:prstGeom prst="rect">
            <a:avLst/>
          </a:prstGeom>
          <a:noFill/>
          <a:ln/>
        </p:spPr>
        <p:txBody>
          <a:bodyPr wrap="square" lIns="0" tIns="0" rIns="0" bIns="0" rtlCol="0" anchor="ctr"/>
          <a:lstStyle/>
          <a:p>
            <a:pPr indent="0" marL="0">
              <a:lnSpc>
                <a:spcPts val="2200"/>
              </a:lnSpc>
              <a:buNone/>
            </a:pPr>
            <a:r>
              <a:rPr lang="en-US" sz="1400" dirty="0">
                <a:solidFill>
                  <a:srgbClr val="C9D6E3"/>
                </a:solidFill>
                <a:latin typeface="Calibri" pitchFamily="34" charset="0"/>
                <a:ea typeface="Calibri" pitchFamily="34" charset="-122"/>
                <a:cs typeface="Calibri" pitchFamily="34" charset="-120"/>
              </a:rPr>
              <a:t>Every change made in response to the July 2026 review, shot by shot. Editable: update any cell here, then hand this deck to production as the shooting and re-record brief.</a:t>
            </a:r>
            <a:endParaRPr lang="en-US" sz="1400" dirty="0"/>
          </a:p>
        </p:txBody>
      </p:sp>
      <p:sp>
        <p:nvSpPr>
          <p:cNvPr id="6" name="Text 4"/>
          <p:cNvSpPr/>
          <p:nvPr/>
        </p:nvSpPr>
        <p:spPr>
          <a:xfrm>
            <a:off x="731520" y="4846320"/>
            <a:ext cx="20116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4:41</a:t>
            </a:r>
            <a:endParaRPr lang="en-US" sz="3400" dirty="0"/>
          </a:p>
        </p:txBody>
      </p:sp>
      <p:sp>
        <p:nvSpPr>
          <p:cNvPr id="7" name="Text 5"/>
          <p:cNvSpPr/>
          <p:nvPr/>
        </p:nvSpPr>
        <p:spPr>
          <a:xfrm>
            <a:off x="731520" y="5440680"/>
            <a:ext cx="2011680" cy="457200"/>
          </a:xfrm>
          <a:prstGeom prst="rect">
            <a:avLst/>
          </a:prstGeom>
          <a:noFill/>
          <a:ln/>
        </p:spPr>
        <p:txBody>
          <a:bodyPr wrap="square" lIns="0" tIns="0" rIns="0" bIns="0" rtlCol="0" anchor="ctr"/>
          <a:lstStyle/>
          <a:p>
            <a:pPr indent="0" marL="0">
              <a:buNone/>
            </a:pPr>
            <a:r>
              <a:rPr lang="en-US" sz="1100" dirty="0">
                <a:solidFill>
                  <a:srgbClr val="9AA8A2"/>
                </a:solidFill>
                <a:latin typeface="Calibri" pitchFamily="34" charset="0"/>
                <a:ea typeface="Calibri" pitchFamily="34" charset="-122"/>
                <a:cs typeface="Calibri" pitchFamily="34" charset="-120"/>
              </a:rPr>
              <a:t>runtime (5:00 cap)</a:t>
            </a:r>
            <a:endParaRPr lang="en-US" sz="1100" dirty="0"/>
          </a:p>
        </p:txBody>
      </p:sp>
      <p:sp>
        <p:nvSpPr>
          <p:cNvPr id="8" name="Text 6"/>
          <p:cNvSpPr/>
          <p:nvPr/>
        </p:nvSpPr>
        <p:spPr>
          <a:xfrm>
            <a:off x="2880360" y="4846320"/>
            <a:ext cx="20116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20</a:t>
            </a:r>
            <a:endParaRPr lang="en-US" sz="3400" dirty="0"/>
          </a:p>
        </p:txBody>
      </p:sp>
      <p:sp>
        <p:nvSpPr>
          <p:cNvPr id="9" name="Text 7"/>
          <p:cNvSpPr/>
          <p:nvPr/>
        </p:nvSpPr>
        <p:spPr>
          <a:xfrm>
            <a:off x="2880360" y="5440680"/>
            <a:ext cx="2011680" cy="457200"/>
          </a:xfrm>
          <a:prstGeom prst="rect">
            <a:avLst/>
          </a:prstGeom>
          <a:noFill/>
          <a:ln/>
        </p:spPr>
        <p:txBody>
          <a:bodyPr wrap="square" lIns="0" tIns="0" rIns="0" bIns="0" rtlCol="0" anchor="ctr"/>
          <a:lstStyle/>
          <a:p>
            <a:pPr indent="0" marL="0">
              <a:buNone/>
            </a:pPr>
            <a:r>
              <a:rPr lang="en-US" sz="1100" dirty="0">
                <a:solidFill>
                  <a:srgbClr val="9AA8A2"/>
                </a:solidFill>
                <a:latin typeface="Calibri" pitchFamily="34" charset="0"/>
                <a:ea typeface="Calibri" pitchFamily="34" charset="-122"/>
                <a:cs typeface="Calibri" pitchFamily="34" charset="-120"/>
              </a:rPr>
              <a:t>shots</a:t>
            </a:r>
            <a:endParaRPr lang="en-US" sz="1100" dirty="0"/>
          </a:p>
        </p:txBody>
      </p:sp>
      <p:sp>
        <p:nvSpPr>
          <p:cNvPr id="10" name="Text 8"/>
          <p:cNvSpPr/>
          <p:nvPr/>
        </p:nvSpPr>
        <p:spPr>
          <a:xfrm>
            <a:off x="5029200" y="4846320"/>
            <a:ext cx="20116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11" name="Text 9"/>
          <p:cNvSpPr/>
          <p:nvPr/>
        </p:nvSpPr>
        <p:spPr>
          <a:xfrm>
            <a:off x="5029200" y="5440680"/>
            <a:ext cx="2011680" cy="457200"/>
          </a:xfrm>
          <a:prstGeom prst="rect">
            <a:avLst/>
          </a:prstGeom>
          <a:noFill/>
          <a:ln/>
        </p:spPr>
        <p:txBody>
          <a:bodyPr wrap="square" lIns="0" tIns="0" rIns="0" bIns="0" rtlCol="0" anchor="ctr"/>
          <a:lstStyle/>
          <a:p>
            <a:pPr indent="0" marL="0">
              <a:buNone/>
            </a:pPr>
            <a:r>
              <a:rPr lang="en-US" sz="1100" dirty="0">
                <a:solidFill>
                  <a:srgbClr val="9AA8A2"/>
                </a:solidFill>
                <a:latin typeface="Calibri" pitchFamily="34" charset="0"/>
                <a:ea typeface="Calibri" pitchFamily="34" charset="-122"/>
                <a:cs typeface="Calibri" pitchFamily="34" charset="-120"/>
              </a:rPr>
              <a:t>shots changed</a:t>
            </a:r>
            <a:endParaRPr lang="en-US" sz="1100" dirty="0"/>
          </a:p>
        </p:txBody>
      </p:sp>
      <p:sp>
        <p:nvSpPr>
          <p:cNvPr id="12" name="Text 10"/>
          <p:cNvSpPr/>
          <p:nvPr/>
        </p:nvSpPr>
        <p:spPr>
          <a:xfrm>
            <a:off x="7178040" y="4846320"/>
            <a:ext cx="20116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sp>
        <p:nvSpPr>
          <p:cNvPr id="13" name="Text 11"/>
          <p:cNvSpPr/>
          <p:nvPr/>
        </p:nvSpPr>
        <p:spPr>
          <a:xfrm>
            <a:off x="7178040" y="5440680"/>
            <a:ext cx="2011680" cy="457200"/>
          </a:xfrm>
          <a:prstGeom prst="rect">
            <a:avLst/>
          </a:prstGeom>
          <a:noFill/>
          <a:ln/>
        </p:spPr>
        <p:txBody>
          <a:bodyPr wrap="square" lIns="0" tIns="0" rIns="0" bIns="0" rtlCol="0" anchor="ctr"/>
          <a:lstStyle/>
          <a:p>
            <a:pPr indent="0" marL="0">
              <a:buNone/>
            </a:pPr>
            <a:r>
              <a:rPr lang="en-US" sz="1100" dirty="0">
                <a:solidFill>
                  <a:srgbClr val="9AA8A2"/>
                </a:solidFill>
                <a:latin typeface="Calibri" pitchFamily="34" charset="0"/>
                <a:ea typeface="Calibri" pitchFamily="34" charset="-122"/>
                <a:cs typeface="Calibri" pitchFamily="34" charset="-120"/>
              </a:rPr>
              <a:t>to re-capture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31863E"/>
                </a:solidFill>
                <a:latin typeface="Calibri" pitchFamily="34" charset="0"/>
                <a:ea typeface="Calibri" pitchFamily="34" charset="-122"/>
                <a:cs typeface="Calibri" pitchFamily="34" charset="-120"/>
              </a:rPr>
              <a:t>JULY 2026 REVIEW</a:t>
            </a:r>
            <a:endParaRPr lang="en-US" sz="1100" dirty="0"/>
          </a:p>
        </p:txBody>
      </p:sp>
      <p:sp>
        <p:nvSpPr>
          <p:cNvPr id="3" name="Text 1"/>
          <p:cNvSpPr/>
          <p:nvPr/>
        </p:nvSpPr>
        <p:spPr>
          <a:xfrm>
            <a:off x="548640" y="658368"/>
            <a:ext cx="11064240" cy="548640"/>
          </a:xfrm>
          <a:prstGeom prst="rect">
            <a:avLst/>
          </a:prstGeom>
          <a:noFill/>
          <a:ln/>
        </p:spPr>
        <p:txBody>
          <a:bodyPr wrap="square" lIns="0" tIns="0" rIns="0" bIns="0"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Six notes, six responses</a:t>
            </a:r>
            <a:endParaRPr lang="en-US" sz="3200" dirty="0"/>
          </a:p>
        </p:txBody>
      </p:sp>
      <p:sp>
        <p:nvSpPr>
          <p:cNvPr id="4" name="Shape 2"/>
          <p:cNvSpPr/>
          <p:nvPr/>
        </p:nvSpPr>
        <p:spPr>
          <a:xfrm>
            <a:off x="548640" y="1417320"/>
            <a:ext cx="5440680" cy="1371600"/>
          </a:xfrm>
          <a:prstGeom prst="roundRect">
            <a:avLst>
              <a:gd name="adj" fmla="val 5333"/>
            </a:avLst>
          </a:prstGeom>
          <a:solidFill>
            <a:srgbClr val="F1F5F3"/>
          </a:solidFill>
          <a:ln w="12700">
            <a:solidFill>
              <a:srgbClr val="D8DEDB"/>
            </a:solidFill>
            <a:prstDash val="solid"/>
          </a:ln>
        </p:spPr>
      </p:sp>
      <p:sp>
        <p:nvSpPr>
          <p:cNvPr id="5" name="Shape 3"/>
          <p:cNvSpPr/>
          <p:nvPr/>
        </p:nvSpPr>
        <p:spPr>
          <a:xfrm>
            <a:off x="749808" y="1636776"/>
            <a:ext cx="384048" cy="384048"/>
          </a:xfrm>
          <a:prstGeom prst="ellipse">
            <a:avLst/>
          </a:prstGeom>
          <a:solidFill>
            <a:srgbClr val="31863E"/>
          </a:solidFill>
          <a:ln/>
        </p:spPr>
      </p:sp>
      <p:sp>
        <p:nvSpPr>
          <p:cNvPr id="6" name="Text 4"/>
          <p:cNvSpPr/>
          <p:nvPr/>
        </p:nvSpPr>
        <p:spPr>
          <a:xfrm>
            <a:off x="749808" y="1636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80160" y="1563624"/>
            <a:ext cx="3108960" cy="566928"/>
          </a:xfrm>
          <a:prstGeom prst="rect">
            <a:avLst/>
          </a:prstGeom>
          <a:noFill/>
          <a:ln/>
        </p:spPr>
        <p:txBody>
          <a:bodyPr wrap="square" lIns="0" tIns="0" rIns="0" bIns="0" rtlCol="0" anchor="ctr"/>
          <a:lstStyle/>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Reference mission acceleration</a:t>
            </a:r>
            <a:endParaRPr lang="en-US" sz="1200" dirty="0"/>
          </a:p>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and state of the art explicitly</a:t>
            </a:r>
            <a:endParaRPr lang="en-US" sz="1200" dirty="0"/>
          </a:p>
        </p:txBody>
      </p:sp>
      <p:sp>
        <p:nvSpPr>
          <p:cNvPr id="8" name="Text 6"/>
          <p:cNvSpPr/>
          <p:nvPr/>
        </p:nvSpPr>
        <p:spPr>
          <a:xfrm>
            <a:off x="1280160" y="2130552"/>
            <a:ext cx="4480560" cy="566928"/>
          </a:xfrm>
          <a:prstGeom prst="rect">
            <a:avLst/>
          </a:prstGeom>
          <a:noFill/>
          <a:ln/>
        </p:spPr>
        <p:txBody>
          <a:bodyPr wrap="square" lIns="0" tIns="0" rIns="0" bIns="0" rtlCol="0" anchor="ctr"/>
          <a:lstStyle/>
          <a:p>
            <a:pPr indent="0" marL="0">
              <a:lnSpc>
                <a:spcPts val="1300"/>
              </a:lnSpc>
              <a:buNone/>
            </a:pPr>
            <a:r>
              <a:rPr lang="en-US" sz="1050" dirty="0">
                <a:solidFill>
                  <a:srgbClr val="5A6568"/>
                </a:solidFill>
                <a:latin typeface="Calibri" pitchFamily="34" charset="0"/>
                <a:ea typeface="Calibri" pitchFamily="34" charset="-122"/>
                <a:cs typeface="Calibri" pitchFamily="34" charset="-120"/>
              </a:rPr>
              <a:t>Both phrases now open their beats, in the narration AND on screen. Shots 13 and 16.</a:t>
            </a:r>
            <a:endParaRPr lang="en-US" sz="1050" dirty="0"/>
          </a:p>
        </p:txBody>
      </p:sp>
      <p:sp>
        <p:nvSpPr>
          <p:cNvPr id="9" name="Text 7"/>
          <p:cNvSpPr/>
          <p:nvPr/>
        </p:nvSpPr>
        <p:spPr>
          <a:xfrm>
            <a:off x="4462272" y="1600200"/>
            <a:ext cx="1371600" cy="292608"/>
          </a:xfrm>
          <a:prstGeom prst="rect">
            <a:avLst/>
          </a:prstGeom>
          <a:noFill/>
          <a:ln/>
        </p:spPr>
        <p:txBody>
          <a:bodyPr wrap="square" lIns="0" tIns="0" rIns="0" bIns="0" rtlCol="0" anchor="ctr"/>
          <a:lstStyle/>
          <a:p>
            <a:pPr algn="r" indent="0" marL="0">
              <a:buNone/>
            </a:pPr>
            <a:r>
              <a:rPr lang="en-US" sz="900" b="1" dirty="0">
                <a:solidFill>
                  <a:srgbClr val="31863E"/>
                </a:solidFill>
                <a:latin typeface="Calibri" pitchFamily="34" charset="0"/>
                <a:ea typeface="Calibri" pitchFamily="34" charset="-122"/>
                <a:cs typeface="Calibri" pitchFamily="34" charset="-120"/>
              </a:rPr>
              <a:t>DONE</a:t>
            </a:r>
            <a:endParaRPr lang="en-US" sz="900" dirty="0"/>
          </a:p>
        </p:txBody>
      </p:sp>
      <p:sp>
        <p:nvSpPr>
          <p:cNvPr id="10" name="Shape 8"/>
          <p:cNvSpPr/>
          <p:nvPr/>
        </p:nvSpPr>
        <p:spPr>
          <a:xfrm>
            <a:off x="6263640" y="1417320"/>
            <a:ext cx="5440680" cy="1371600"/>
          </a:xfrm>
          <a:prstGeom prst="roundRect">
            <a:avLst>
              <a:gd name="adj" fmla="val 5333"/>
            </a:avLst>
          </a:prstGeom>
          <a:solidFill>
            <a:srgbClr val="F1F5F3"/>
          </a:solidFill>
          <a:ln w="12700">
            <a:solidFill>
              <a:srgbClr val="D8DEDB"/>
            </a:solidFill>
            <a:prstDash val="solid"/>
          </a:ln>
        </p:spPr>
      </p:sp>
      <p:sp>
        <p:nvSpPr>
          <p:cNvPr id="11" name="Shape 9"/>
          <p:cNvSpPr/>
          <p:nvPr/>
        </p:nvSpPr>
        <p:spPr>
          <a:xfrm>
            <a:off x="6464808" y="1636776"/>
            <a:ext cx="384048" cy="384048"/>
          </a:xfrm>
          <a:prstGeom prst="ellipse">
            <a:avLst/>
          </a:prstGeom>
          <a:solidFill>
            <a:srgbClr val="31863E"/>
          </a:solidFill>
          <a:ln/>
        </p:spPr>
      </p:sp>
      <p:sp>
        <p:nvSpPr>
          <p:cNvPr id="12" name="Text 10"/>
          <p:cNvSpPr/>
          <p:nvPr/>
        </p:nvSpPr>
        <p:spPr>
          <a:xfrm>
            <a:off x="6464808" y="1636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995160" y="1563624"/>
            <a:ext cx="3108960" cy="566928"/>
          </a:xfrm>
          <a:prstGeom prst="rect">
            <a:avLst/>
          </a:prstGeom>
          <a:noFill/>
          <a:ln/>
        </p:spPr>
        <p:txBody>
          <a:bodyPr wrap="square" lIns="0" tIns="0" rIns="0" bIns="0" rtlCol="0" anchor="ctr"/>
          <a:lstStyle/>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Remove OSW Comptroller</a:t>
            </a:r>
            <a:endParaRPr lang="en-US" sz="1200" dirty="0"/>
          </a:p>
        </p:txBody>
      </p:sp>
      <p:sp>
        <p:nvSpPr>
          <p:cNvPr id="14" name="Text 12"/>
          <p:cNvSpPr/>
          <p:nvPr/>
        </p:nvSpPr>
        <p:spPr>
          <a:xfrm>
            <a:off x="6995160" y="2130552"/>
            <a:ext cx="4480560" cy="566928"/>
          </a:xfrm>
          <a:prstGeom prst="rect">
            <a:avLst/>
          </a:prstGeom>
          <a:noFill/>
          <a:ln/>
        </p:spPr>
        <p:txBody>
          <a:bodyPr wrap="square" lIns="0" tIns="0" rIns="0" bIns="0" rtlCol="0" anchor="ctr"/>
          <a:lstStyle/>
          <a:p>
            <a:pPr indent="0" marL="0">
              <a:lnSpc>
                <a:spcPts val="1300"/>
              </a:lnSpc>
              <a:buNone/>
            </a:pPr>
            <a:r>
              <a:rPr lang="en-US" sz="1050" dirty="0">
                <a:solidFill>
                  <a:srgbClr val="5A6568"/>
                </a:solidFill>
                <a:latin typeface="Calibri" pitchFamily="34" charset="0"/>
                <a:ea typeface="Calibri" pitchFamily="34" charset="-122"/>
                <a:cs typeface="Calibri" pitchFamily="34" charset="-120"/>
              </a:rPr>
              <a:t>Gone from the narration, the client strip, and the package citation line. Shot 15.</a:t>
            </a:r>
            <a:endParaRPr lang="en-US" sz="1050" dirty="0"/>
          </a:p>
        </p:txBody>
      </p:sp>
      <p:sp>
        <p:nvSpPr>
          <p:cNvPr id="15" name="Text 13"/>
          <p:cNvSpPr/>
          <p:nvPr/>
        </p:nvSpPr>
        <p:spPr>
          <a:xfrm>
            <a:off x="10177272" y="1600200"/>
            <a:ext cx="1371600" cy="292608"/>
          </a:xfrm>
          <a:prstGeom prst="rect">
            <a:avLst/>
          </a:prstGeom>
          <a:noFill/>
          <a:ln/>
        </p:spPr>
        <p:txBody>
          <a:bodyPr wrap="square" lIns="0" tIns="0" rIns="0" bIns="0" rtlCol="0" anchor="ctr"/>
          <a:lstStyle/>
          <a:p>
            <a:pPr algn="r" indent="0" marL="0">
              <a:buNone/>
            </a:pPr>
            <a:r>
              <a:rPr lang="en-US" sz="900" b="1" dirty="0">
                <a:solidFill>
                  <a:srgbClr val="31863E"/>
                </a:solidFill>
                <a:latin typeface="Calibri" pitchFamily="34" charset="0"/>
                <a:ea typeface="Calibri" pitchFamily="34" charset="-122"/>
                <a:cs typeface="Calibri" pitchFamily="34" charset="-120"/>
              </a:rPr>
              <a:t>DONE</a:t>
            </a:r>
            <a:endParaRPr lang="en-US" sz="900" dirty="0"/>
          </a:p>
        </p:txBody>
      </p:sp>
      <p:sp>
        <p:nvSpPr>
          <p:cNvPr id="16" name="Shape 14"/>
          <p:cNvSpPr/>
          <p:nvPr/>
        </p:nvSpPr>
        <p:spPr>
          <a:xfrm>
            <a:off x="548640" y="2990088"/>
            <a:ext cx="5440680" cy="1371600"/>
          </a:xfrm>
          <a:prstGeom prst="roundRect">
            <a:avLst>
              <a:gd name="adj" fmla="val 5333"/>
            </a:avLst>
          </a:prstGeom>
          <a:solidFill>
            <a:srgbClr val="F1F5F3"/>
          </a:solidFill>
          <a:ln w="12700">
            <a:solidFill>
              <a:srgbClr val="D8DEDB"/>
            </a:solidFill>
            <a:prstDash val="solid"/>
          </a:ln>
        </p:spPr>
      </p:sp>
      <p:sp>
        <p:nvSpPr>
          <p:cNvPr id="17" name="Shape 15"/>
          <p:cNvSpPr/>
          <p:nvPr/>
        </p:nvSpPr>
        <p:spPr>
          <a:xfrm>
            <a:off x="749808" y="3209544"/>
            <a:ext cx="384048" cy="384048"/>
          </a:xfrm>
          <a:prstGeom prst="ellipse">
            <a:avLst/>
          </a:prstGeom>
          <a:solidFill>
            <a:srgbClr val="31863E"/>
          </a:solidFill>
          <a:ln/>
        </p:spPr>
      </p:sp>
      <p:sp>
        <p:nvSpPr>
          <p:cNvPr id="18" name="Text 16"/>
          <p:cNvSpPr/>
          <p:nvPr/>
        </p:nvSpPr>
        <p:spPr>
          <a:xfrm>
            <a:off x="749808" y="3209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280160" y="3136392"/>
            <a:ext cx="3108960" cy="566928"/>
          </a:xfrm>
          <a:prstGeom prst="rect">
            <a:avLst/>
          </a:prstGeom>
          <a:noFill/>
          <a:ln/>
        </p:spPr>
        <p:txBody>
          <a:bodyPr wrap="square" lIns="0" tIns="0" rIns="0" bIns="0" rtlCol="0" anchor="ctr"/>
          <a:lstStyle/>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Say SBIR, do not spell it out</a:t>
            </a:r>
            <a:endParaRPr lang="en-US" sz="1200" dirty="0"/>
          </a:p>
        </p:txBody>
      </p:sp>
      <p:sp>
        <p:nvSpPr>
          <p:cNvPr id="20" name="Text 18"/>
          <p:cNvSpPr/>
          <p:nvPr/>
        </p:nvSpPr>
        <p:spPr>
          <a:xfrm>
            <a:off x="1280160" y="3703320"/>
            <a:ext cx="4480560" cy="566928"/>
          </a:xfrm>
          <a:prstGeom prst="rect">
            <a:avLst/>
          </a:prstGeom>
          <a:noFill/>
          <a:ln/>
        </p:spPr>
        <p:txBody>
          <a:bodyPr wrap="square" lIns="0" tIns="0" rIns="0" bIns="0" rtlCol="0" anchor="ctr"/>
          <a:lstStyle/>
          <a:p>
            <a:pPr indent="0" marL="0">
              <a:lnSpc>
                <a:spcPts val="1300"/>
              </a:lnSpc>
              <a:buNone/>
            </a:pPr>
            <a:r>
              <a:rPr lang="en-US" sz="1050" dirty="0">
                <a:solidFill>
                  <a:srgbClr val="5A6568"/>
                </a:solidFill>
                <a:latin typeface="Calibri" pitchFamily="34" charset="0"/>
                <a:ea typeface="Calibri" pitchFamily="34" charset="-122"/>
                <a:cs typeface="Calibri" pitchFamily="34" charset="-120"/>
              </a:rPr>
              <a:t>VO note added: "SY-ber". Shot 17 re-records.</a:t>
            </a:r>
            <a:endParaRPr lang="en-US" sz="1050" dirty="0"/>
          </a:p>
        </p:txBody>
      </p:sp>
      <p:sp>
        <p:nvSpPr>
          <p:cNvPr id="21" name="Text 19"/>
          <p:cNvSpPr/>
          <p:nvPr/>
        </p:nvSpPr>
        <p:spPr>
          <a:xfrm>
            <a:off x="4462272" y="3172968"/>
            <a:ext cx="1371600" cy="292608"/>
          </a:xfrm>
          <a:prstGeom prst="rect">
            <a:avLst/>
          </a:prstGeom>
          <a:noFill/>
          <a:ln/>
        </p:spPr>
        <p:txBody>
          <a:bodyPr wrap="square" lIns="0" tIns="0" rIns="0" bIns="0" rtlCol="0" anchor="ctr"/>
          <a:lstStyle/>
          <a:p>
            <a:pPr algn="r" indent="0" marL="0">
              <a:buNone/>
            </a:pPr>
            <a:r>
              <a:rPr lang="en-US" sz="900" b="1" dirty="0">
                <a:solidFill>
                  <a:srgbClr val="31863E"/>
                </a:solidFill>
                <a:latin typeface="Calibri" pitchFamily="34" charset="0"/>
                <a:ea typeface="Calibri" pitchFamily="34" charset="-122"/>
                <a:cs typeface="Calibri" pitchFamily="34" charset="-120"/>
              </a:rPr>
              <a:t>DONE</a:t>
            </a:r>
            <a:endParaRPr lang="en-US" sz="900" dirty="0"/>
          </a:p>
        </p:txBody>
      </p:sp>
      <p:sp>
        <p:nvSpPr>
          <p:cNvPr id="22" name="Shape 20"/>
          <p:cNvSpPr/>
          <p:nvPr/>
        </p:nvSpPr>
        <p:spPr>
          <a:xfrm>
            <a:off x="6263640" y="2990088"/>
            <a:ext cx="5440680" cy="1371600"/>
          </a:xfrm>
          <a:prstGeom prst="roundRect">
            <a:avLst>
              <a:gd name="adj" fmla="val 5333"/>
            </a:avLst>
          </a:prstGeom>
          <a:solidFill>
            <a:srgbClr val="F1F5F3"/>
          </a:solidFill>
          <a:ln w="12700">
            <a:solidFill>
              <a:srgbClr val="D8DEDB"/>
            </a:solidFill>
            <a:prstDash val="solid"/>
          </a:ln>
        </p:spPr>
      </p:sp>
      <p:sp>
        <p:nvSpPr>
          <p:cNvPr id="23" name="Shape 21"/>
          <p:cNvSpPr/>
          <p:nvPr/>
        </p:nvSpPr>
        <p:spPr>
          <a:xfrm>
            <a:off x="6464808" y="3209544"/>
            <a:ext cx="384048" cy="384048"/>
          </a:xfrm>
          <a:prstGeom prst="ellipse">
            <a:avLst/>
          </a:prstGeom>
          <a:solidFill>
            <a:srgbClr val="31863E"/>
          </a:solidFill>
          <a:ln/>
        </p:spPr>
      </p:sp>
      <p:sp>
        <p:nvSpPr>
          <p:cNvPr id="24" name="Text 22"/>
          <p:cNvSpPr/>
          <p:nvPr/>
        </p:nvSpPr>
        <p:spPr>
          <a:xfrm>
            <a:off x="6464808" y="3209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6995160" y="3136392"/>
            <a:ext cx="3108960" cy="566928"/>
          </a:xfrm>
          <a:prstGeom prst="rect">
            <a:avLst/>
          </a:prstGeom>
          <a:noFill/>
          <a:ln/>
        </p:spPr>
        <p:txBody>
          <a:bodyPr wrap="square" lIns="0" tIns="0" rIns="0" bIns="0" rtlCol="0" anchor="ctr"/>
          <a:lstStyle/>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Drop "sold as a subscription"</a:t>
            </a:r>
            <a:endParaRPr lang="en-US" sz="1200" dirty="0"/>
          </a:p>
        </p:txBody>
      </p:sp>
      <p:sp>
        <p:nvSpPr>
          <p:cNvPr id="26" name="Text 24"/>
          <p:cNvSpPr/>
          <p:nvPr/>
        </p:nvSpPr>
        <p:spPr>
          <a:xfrm>
            <a:off x="6995160" y="3703320"/>
            <a:ext cx="4480560" cy="566928"/>
          </a:xfrm>
          <a:prstGeom prst="rect">
            <a:avLst/>
          </a:prstGeom>
          <a:noFill/>
          <a:ln/>
        </p:spPr>
        <p:txBody>
          <a:bodyPr wrap="square" lIns="0" tIns="0" rIns="0" bIns="0" rtlCol="0" anchor="ctr"/>
          <a:lstStyle/>
          <a:p>
            <a:pPr indent="0" marL="0">
              <a:lnSpc>
                <a:spcPts val="1300"/>
              </a:lnSpc>
              <a:buNone/>
            </a:pPr>
            <a:r>
              <a:rPr lang="en-US" sz="1050" dirty="0">
                <a:solidFill>
                  <a:srgbClr val="5A6568"/>
                </a:solidFill>
                <a:latin typeface="Calibri" pitchFamily="34" charset="0"/>
                <a:ea typeface="Calibri" pitchFamily="34" charset="-122"/>
                <a:cs typeface="Calibri" pitchFamily="34" charset="-120"/>
              </a:rPr>
              <a:t>All pricing and sales-model language removed. Shots 17 and 18.</a:t>
            </a:r>
            <a:endParaRPr lang="en-US" sz="1050" dirty="0"/>
          </a:p>
        </p:txBody>
      </p:sp>
      <p:sp>
        <p:nvSpPr>
          <p:cNvPr id="27" name="Text 25"/>
          <p:cNvSpPr/>
          <p:nvPr/>
        </p:nvSpPr>
        <p:spPr>
          <a:xfrm>
            <a:off x="10177272" y="3172968"/>
            <a:ext cx="1371600" cy="292608"/>
          </a:xfrm>
          <a:prstGeom prst="rect">
            <a:avLst/>
          </a:prstGeom>
          <a:noFill/>
          <a:ln/>
        </p:spPr>
        <p:txBody>
          <a:bodyPr wrap="square" lIns="0" tIns="0" rIns="0" bIns="0" rtlCol="0" anchor="ctr"/>
          <a:lstStyle/>
          <a:p>
            <a:pPr algn="r" indent="0" marL="0">
              <a:buNone/>
            </a:pPr>
            <a:r>
              <a:rPr lang="en-US" sz="900" b="1" dirty="0">
                <a:solidFill>
                  <a:srgbClr val="B26B00"/>
                </a:solidFill>
                <a:latin typeface="Calibri" pitchFamily="34" charset="0"/>
                <a:ea typeface="Calibri" pitchFamily="34" charset="-122"/>
                <a:cs typeface="Calibri" pitchFamily="34" charset="-120"/>
              </a:rPr>
              <a:t>SEE DEC. B</a:t>
            </a:r>
            <a:endParaRPr lang="en-US" sz="900" dirty="0"/>
          </a:p>
        </p:txBody>
      </p:sp>
      <p:sp>
        <p:nvSpPr>
          <p:cNvPr id="28" name="Shape 26"/>
          <p:cNvSpPr/>
          <p:nvPr/>
        </p:nvSpPr>
        <p:spPr>
          <a:xfrm>
            <a:off x="548640" y="4562856"/>
            <a:ext cx="5440680" cy="1371600"/>
          </a:xfrm>
          <a:prstGeom prst="roundRect">
            <a:avLst>
              <a:gd name="adj" fmla="val 5333"/>
            </a:avLst>
          </a:prstGeom>
          <a:solidFill>
            <a:srgbClr val="F1F5F3"/>
          </a:solidFill>
          <a:ln w="12700">
            <a:solidFill>
              <a:srgbClr val="D8DEDB"/>
            </a:solidFill>
            <a:prstDash val="solid"/>
          </a:ln>
        </p:spPr>
      </p:sp>
      <p:sp>
        <p:nvSpPr>
          <p:cNvPr id="29" name="Shape 27"/>
          <p:cNvSpPr/>
          <p:nvPr/>
        </p:nvSpPr>
        <p:spPr>
          <a:xfrm>
            <a:off x="749808" y="4782312"/>
            <a:ext cx="384048" cy="384048"/>
          </a:xfrm>
          <a:prstGeom prst="ellipse">
            <a:avLst/>
          </a:prstGeom>
          <a:solidFill>
            <a:srgbClr val="31863E"/>
          </a:solidFill>
          <a:ln/>
        </p:spPr>
      </p:sp>
      <p:sp>
        <p:nvSpPr>
          <p:cNvPr id="30" name="Text 28"/>
          <p:cNvSpPr/>
          <p:nvPr/>
        </p:nvSpPr>
        <p:spPr>
          <a:xfrm>
            <a:off x="749808" y="47823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280160" y="4709160"/>
            <a:ext cx="3108960" cy="566928"/>
          </a:xfrm>
          <a:prstGeom prst="rect">
            <a:avLst/>
          </a:prstGeom>
          <a:noFill/>
          <a:ln/>
        </p:spPr>
        <p:txBody>
          <a:bodyPr wrap="square" lIns="0" tIns="0" rIns="0" bIns="0" rtlCol="0" anchor="ctr"/>
          <a:lstStyle/>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Fix the POC on screen</a:t>
            </a:r>
            <a:endParaRPr lang="en-US" sz="1200" dirty="0"/>
          </a:p>
        </p:txBody>
      </p:sp>
      <p:sp>
        <p:nvSpPr>
          <p:cNvPr id="32" name="Text 30"/>
          <p:cNvSpPr/>
          <p:nvPr/>
        </p:nvSpPr>
        <p:spPr>
          <a:xfrm>
            <a:off x="1280160" y="5276088"/>
            <a:ext cx="4480560" cy="566928"/>
          </a:xfrm>
          <a:prstGeom prst="rect">
            <a:avLst/>
          </a:prstGeom>
          <a:noFill/>
          <a:ln/>
        </p:spPr>
        <p:txBody>
          <a:bodyPr wrap="square" lIns="0" tIns="0" rIns="0" bIns="0" rtlCol="0" anchor="ctr"/>
          <a:lstStyle/>
          <a:p>
            <a:pPr indent="0" marL="0">
              <a:lnSpc>
                <a:spcPts val="1300"/>
              </a:lnSpc>
              <a:buNone/>
            </a:pPr>
            <a:r>
              <a:rPr lang="en-US" sz="1050" dirty="0">
                <a:solidFill>
                  <a:srgbClr val="5A6568"/>
                </a:solidFill>
                <a:latin typeface="Calibri" pitchFamily="34" charset="0"/>
                <a:ea typeface="Calibri" pitchFamily="34" charset="-122"/>
                <a:cs typeface="Calibri" pitchFamily="34" charset="-120"/>
              </a:rPr>
              <a:t>Placeholder made explicit so it cannot ship unnoticed. Shot 19.</a:t>
            </a:r>
            <a:endParaRPr lang="en-US" sz="1050" dirty="0"/>
          </a:p>
        </p:txBody>
      </p:sp>
      <p:sp>
        <p:nvSpPr>
          <p:cNvPr id="33" name="Text 31"/>
          <p:cNvSpPr/>
          <p:nvPr/>
        </p:nvSpPr>
        <p:spPr>
          <a:xfrm>
            <a:off x="4462272" y="4745736"/>
            <a:ext cx="1371600" cy="292608"/>
          </a:xfrm>
          <a:prstGeom prst="rect">
            <a:avLst/>
          </a:prstGeom>
          <a:noFill/>
          <a:ln/>
        </p:spPr>
        <p:txBody>
          <a:bodyPr wrap="square" lIns="0" tIns="0" rIns="0" bIns="0" rtlCol="0" anchor="ctr"/>
          <a:lstStyle/>
          <a:p>
            <a:pPr algn="r" indent="0" marL="0">
              <a:buNone/>
            </a:pPr>
            <a:r>
              <a:rPr lang="en-US" sz="900" b="1" dirty="0">
                <a:solidFill>
                  <a:srgbClr val="B26B00"/>
                </a:solidFill>
                <a:latin typeface="Calibri" pitchFamily="34" charset="0"/>
                <a:ea typeface="Calibri" pitchFamily="34" charset="-122"/>
                <a:cs typeface="Calibri" pitchFamily="34" charset="-120"/>
              </a:rPr>
              <a:t>NEEDS INPUT</a:t>
            </a:r>
            <a:endParaRPr lang="en-US" sz="900" dirty="0"/>
          </a:p>
        </p:txBody>
      </p:sp>
      <p:sp>
        <p:nvSpPr>
          <p:cNvPr id="34" name="Shape 32"/>
          <p:cNvSpPr/>
          <p:nvPr/>
        </p:nvSpPr>
        <p:spPr>
          <a:xfrm>
            <a:off x="6263640" y="4562856"/>
            <a:ext cx="5440680" cy="1371600"/>
          </a:xfrm>
          <a:prstGeom prst="roundRect">
            <a:avLst>
              <a:gd name="adj" fmla="val 5333"/>
            </a:avLst>
          </a:prstGeom>
          <a:solidFill>
            <a:srgbClr val="F1F5F3"/>
          </a:solidFill>
          <a:ln w="12700">
            <a:solidFill>
              <a:srgbClr val="D8DEDB"/>
            </a:solidFill>
            <a:prstDash val="solid"/>
          </a:ln>
        </p:spPr>
      </p:sp>
      <p:sp>
        <p:nvSpPr>
          <p:cNvPr id="35" name="Shape 33"/>
          <p:cNvSpPr/>
          <p:nvPr/>
        </p:nvSpPr>
        <p:spPr>
          <a:xfrm>
            <a:off x="6464808" y="4782312"/>
            <a:ext cx="384048" cy="384048"/>
          </a:xfrm>
          <a:prstGeom prst="ellipse">
            <a:avLst/>
          </a:prstGeom>
          <a:solidFill>
            <a:srgbClr val="31863E"/>
          </a:solidFill>
          <a:ln/>
        </p:spPr>
      </p:sp>
      <p:sp>
        <p:nvSpPr>
          <p:cNvPr id="36" name="Text 34"/>
          <p:cNvSpPr/>
          <p:nvPr/>
        </p:nvSpPr>
        <p:spPr>
          <a:xfrm>
            <a:off x="6464808" y="47823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p:nvPr/>
        </p:nvSpPr>
        <p:spPr>
          <a:xfrm>
            <a:off x="6995160" y="4709160"/>
            <a:ext cx="3108960" cy="566928"/>
          </a:xfrm>
          <a:prstGeom prst="rect">
            <a:avLst/>
          </a:prstGeom>
          <a:noFill/>
          <a:ln/>
        </p:spPr>
        <p:txBody>
          <a:bodyPr wrap="square" lIns="0" tIns="0" rIns="0" bIns="0" rtlCol="0" anchor="ctr"/>
          <a:lstStyle/>
          <a:p>
            <a:pPr indent="0" marL="0">
              <a:lnSpc>
                <a:spcPts val="1500"/>
              </a:lnSpc>
              <a:buNone/>
            </a:pPr>
            <a:r>
              <a:rPr lang="en-US" sz="1200" b="1" dirty="0">
                <a:solidFill>
                  <a:srgbClr val="1B1B1B"/>
                </a:solidFill>
                <a:latin typeface="Calibri" pitchFamily="34" charset="0"/>
                <a:ea typeface="Calibri" pitchFamily="34" charset="-122"/>
                <a:cs typeface="Calibri" pitchFamily="34" charset="-120"/>
              </a:rPr>
              <a:t>Mimic the PPBE video cadence</a:t>
            </a:r>
            <a:endParaRPr lang="en-US" sz="1200" dirty="0"/>
          </a:p>
        </p:txBody>
      </p:sp>
      <p:sp>
        <p:nvSpPr>
          <p:cNvPr id="38" name="Text 36"/>
          <p:cNvSpPr/>
          <p:nvPr/>
        </p:nvSpPr>
        <p:spPr>
          <a:xfrm>
            <a:off x="6995160" y="5276088"/>
            <a:ext cx="4480560" cy="566928"/>
          </a:xfrm>
          <a:prstGeom prst="rect">
            <a:avLst/>
          </a:prstGeom>
          <a:noFill/>
          <a:ln/>
        </p:spPr>
        <p:txBody>
          <a:bodyPr wrap="square" lIns="0" tIns="0" rIns="0" bIns="0" rtlCol="0" anchor="ctr"/>
          <a:lstStyle/>
          <a:p>
            <a:pPr indent="0" marL="0">
              <a:lnSpc>
                <a:spcPts val="1300"/>
              </a:lnSpc>
              <a:buNone/>
            </a:pPr>
            <a:r>
              <a:rPr lang="en-US" sz="1050" dirty="0">
                <a:solidFill>
                  <a:srgbClr val="5A6568"/>
                </a:solidFill>
                <a:latin typeface="Calibri" pitchFamily="34" charset="0"/>
                <a:ea typeface="Calibri" pitchFamily="34" charset="-122"/>
                <a:cs typeface="Calibri" pitchFamily="34" charset="-120"/>
              </a:rPr>
              <a:t>Reference video was not attached. Cadence pass pending.</a:t>
            </a:r>
            <a:endParaRPr lang="en-US" sz="1050" dirty="0"/>
          </a:p>
        </p:txBody>
      </p:sp>
      <p:sp>
        <p:nvSpPr>
          <p:cNvPr id="39" name="Text 37"/>
          <p:cNvSpPr/>
          <p:nvPr/>
        </p:nvSpPr>
        <p:spPr>
          <a:xfrm>
            <a:off x="10177272" y="4745736"/>
            <a:ext cx="1371600" cy="292608"/>
          </a:xfrm>
          <a:prstGeom prst="rect">
            <a:avLst/>
          </a:prstGeom>
          <a:noFill/>
          <a:ln/>
        </p:spPr>
        <p:txBody>
          <a:bodyPr wrap="square" lIns="0" tIns="0" rIns="0" bIns="0" rtlCol="0" anchor="ctr"/>
          <a:lstStyle/>
          <a:p>
            <a:pPr algn="r" indent="0" marL="0">
              <a:buNone/>
            </a:pPr>
            <a:r>
              <a:rPr lang="en-US" sz="900" b="1" dirty="0">
                <a:solidFill>
                  <a:srgbClr val="B26B00"/>
                </a:solidFill>
                <a:latin typeface="Calibri" pitchFamily="34" charset="0"/>
                <a:ea typeface="Calibri" pitchFamily="34" charset="-122"/>
                <a:cs typeface="Calibri" pitchFamily="34" charset="-120"/>
              </a:rPr>
              <a:t>BLOCKED</a:t>
            </a:r>
            <a:endParaRPr lang="en-US" sz="900" dirty="0"/>
          </a:p>
        </p:txBody>
      </p:sp>
      <p:sp>
        <p:nvSpPr>
          <p:cNvPr id="40" name="Text 38"/>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41" name="Text 39"/>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31863E"/>
                </a:solidFill>
                <a:latin typeface="Calibri" pitchFamily="34" charset="0"/>
                <a:ea typeface="Calibri" pitchFamily="34" charset="-122"/>
                <a:cs typeface="Calibri" pitchFamily="34" charset="-120"/>
              </a:rPr>
              <a:t>WHY NOTE 1 MATTERED MOST</a:t>
            </a:r>
            <a:endParaRPr lang="en-US" sz="1100" dirty="0"/>
          </a:p>
        </p:txBody>
      </p:sp>
      <p:sp>
        <p:nvSpPr>
          <p:cNvPr id="3" name="Text 1"/>
          <p:cNvSpPr/>
          <p:nvPr/>
        </p:nvSpPr>
        <p:spPr>
          <a:xfrm>
            <a:off x="548640" y="658368"/>
            <a:ext cx="11064240" cy="548640"/>
          </a:xfrm>
          <a:prstGeom prst="rect">
            <a:avLst/>
          </a:prstGeom>
          <a:noFill/>
          <a:ln/>
        </p:spPr>
        <p:txBody>
          <a:bodyPr wrap="square" lIns="0" tIns="0" rIns="0" bIns="0"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The rubric is not evenly weighted</a:t>
            </a:r>
            <a:endParaRPr lang="en-US" sz="3200" dirty="0"/>
          </a:p>
        </p:txBody>
      </p:sp>
      <p:graphicFrame>
        <p:nvGraphicFramePr>
          <p:cNvPr id="4" name="Chart 0" descr=""/>
          <p:cNvGraphicFramePr/>
          <p:nvPr/>
        </p:nvGraphicFramePr>
        <p:xfrm>
          <a:off x="548640" y="146304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463040"/>
            <a:ext cx="3977640" cy="2286000"/>
          </a:xfrm>
          <a:prstGeom prst="roundRect">
            <a:avLst>
              <a:gd name="adj" fmla="val 3200"/>
            </a:avLst>
          </a:prstGeom>
          <a:solidFill>
            <a:srgbClr val="1B1B1B"/>
          </a:solidFill>
          <a:ln/>
        </p:spPr>
      </p:sp>
      <p:sp>
        <p:nvSpPr>
          <p:cNvPr id="6" name="Text 3"/>
          <p:cNvSpPr/>
          <p:nvPr/>
        </p:nvSpPr>
        <p:spPr>
          <a:xfrm>
            <a:off x="7955280" y="1691640"/>
            <a:ext cx="3291840" cy="777240"/>
          </a:xfrm>
          <a:prstGeom prst="rect">
            <a:avLst/>
          </a:prstGeom>
          <a:noFill/>
          <a:ln/>
        </p:spPr>
        <p:txBody>
          <a:bodyPr wrap="square" lIns="0" tIns="0" rIns="0" bIns="0" rtlCol="0" anchor="ctr"/>
          <a:lstStyle/>
          <a:p>
            <a:pPr indent="0" marL="0">
              <a:buNone/>
            </a:pPr>
            <a:r>
              <a:rPr lang="en-US" sz="4600" b="1" dirty="0">
                <a:solidFill>
                  <a:srgbClr val="93D500"/>
                </a:solidFill>
                <a:latin typeface="Cambria" pitchFamily="34" charset="0"/>
                <a:ea typeface="Cambria" pitchFamily="34" charset="-122"/>
                <a:cs typeface="Cambria" pitchFamily="34" charset="-120"/>
              </a:rPr>
              <a:t>75%</a:t>
            </a:r>
            <a:endParaRPr lang="en-US" sz="4600" dirty="0"/>
          </a:p>
        </p:txBody>
      </p:sp>
      <p:sp>
        <p:nvSpPr>
          <p:cNvPr id="7" name="Text 4"/>
          <p:cNvSpPr/>
          <p:nvPr/>
        </p:nvSpPr>
        <p:spPr>
          <a:xfrm>
            <a:off x="7955280" y="2514600"/>
            <a:ext cx="3383280" cy="1097280"/>
          </a:xfrm>
          <a:prstGeom prst="rect">
            <a:avLst/>
          </a:prstGeom>
          <a:noFill/>
          <a:ln/>
        </p:spPr>
        <p:txBody>
          <a:bodyPr wrap="square" lIns="0" tIns="0" rIns="0" bIns="0" rtlCol="0" anchor="ctr"/>
          <a:lstStyle/>
          <a:p>
            <a:pPr indent="0" marL="0">
              <a:lnSpc>
                <a:spcPts val="1600"/>
              </a:lnSpc>
              <a:buNone/>
            </a:pPr>
            <a:r>
              <a:rPr lang="en-US" sz="1200" dirty="0">
                <a:solidFill>
                  <a:srgbClr val="C9D6E3"/>
                </a:solidFill>
                <a:latin typeface="Calibri" pitchFamily="34" charset="0"/>
                <a:ea typeface="Calibri" pitchFamily="34" charset="-122"/>
                <a:cs typeface="Calibri" pitchFamily="34" charset="-120"/>
              </a:rPr>
              <a:t>of the score sits in the two elements the review said we were only implying. That is why note 1 drove the largest rewrite in this revision.</a:t>
            </a:r>
            <a:endParaRPr lang="en-US" sz="1200" dirty="0"/>
          </a:p>
        </p:txBody>
      </p:sp>
      <p:sp>
        <p:nvSpPr>
          <p:cNvPr id="8" name="Shape 5"/>
          <p:cNvSpPr/>
          <p:nvPr/>
        </p:nvSpPr>
        <p:spPr>
          <a:xfrm>
            <a:off x="7635240" y="3931920"/>
            <a:ext cx="3977640" cy="1737360"/>
          </a:xfrm>
          <a:prstGeom prst="roundRect">
            <a:avLst>
              <a:gd name="adj" fmla="val 4211"/>
            </a:avLst>
          </a:prstGeom>
          <a:solidFill>
            <a:srgbClr val="F1F5F3"/>
          </a:solidFill>
          <a:ln w="12700">
            <a:solidFill>
              <a:srgbClr val="D8DEDB"/>
            </a:solidFill>
            <a:prstDash val="solid"/>
          </a:ln>
        </p:spPr>
      </p:sp>
      <p:sp>
        <p:nvSpPr>
          <p:cNvPr id="9" name="Text 6"/>
          <p:cNvSpPr/>
          <p:nvPr/>
        </p:nvSpPr>
        <p:spPr>
          <a:xfrm>
            <a:off x="7955280" y="4114800"/>
            <a:ext cx="3383280" cy="274320"/>
          </a:xfrm>
          <a:prstGeom prst="rect">
            <a:avLst/>
          </a:prstGeom>
          <a:noFill/>
          <a:ln/>
        </p:spPr>
        <p:txBody>
          <a:bodyPr wrap="square" lIns="0" tIns="0" rIns="0" bIns="0" rtlCol="0" anchor="ctr"/>
          <a:lstStyle/>
          <a:p>
            <a:pPr indent="0" marL="0">
              <a:buNone/>
            </a:pPr>
            <a:r>
              <a:rPr lang="en-US" sz="1200" b="1" dirty="0">
                <a:solidFill>
                  <a:srgbClr val="1B1B1B"/>
                </a:solidFill>
                <a:latin typeface="Calibri" pitchFamily="34" charset="0"/>
                <a:ea typeface="Calibri" pitchFamily="34" charset="-122"/>
                <a:cs typeface="Calibri" pitchFamily="34" charset="-120"/>
              </a:rPr>
              <a:t>Business model is only 10%,</a:t>
            </a:r>
            <a:endParaRPr lang="en-US" sz="1200" dirty="0"/>
          </a:p>
        </p:txBody>
      </p:sp>
      <p:sp>
        <p:nvSpPr>
          <p:cNvPr id="10" name="Text 7"/>
          <p:cNvSpPr/>
          <p:nvPr/>
        </p:nvSpPr>
        <p:spPr>
          <a:xfrm>
            <a:off x="7955280" y="4407408"/>
            <a:ext cx="3383280" cy="1097280"/>
          </a:xfrm>
          <a:prstGeom prst="rect">
            <a:avLst/>
          </a:prstGeom>
          <a:noFill/>
          <a:ln/>
        </p:spPr>
        <p:txBody>
          <a:bodyPr wrap="square" lIns="0" tIns="0" rIns="0" bIns="0" rtlCol="0" anchor="ctr"/>
          <a:lstStyle/>
          <a:p>
            <a:pPr indent="0" marL="0">
              <a:lnSpc>
                <a:spcPts val="1400"/>
              </a:lnSpc>
              <a:buNone/>
            </a:pPr>
            <a:r>
              <a:rPr lang="en-US" sz="1100" dirty="0">
                <a:solidFill>
                  <a:srgbClr val="5A6568"/>
                </a:solidFill>
                <a:latin typeface="Calibri" pitchFamily="34" charset="0"/>
                <a:ea typeface="Calibri" pitchFamily="34" charset="-122"/>
                <a:cs typeface="Calibri" pitchFamily="34" charset="-120"/>
              </a:rPr>
              <a:t>but it is the cheapest 10% on the sheet, and removing all sales-model language leaves it answered only obliquely. See open decision B.</a:t>
            </a:r>
            <a:endParaRPr lang="en-US" sz="1100" dirty="0"/>
          </a:p>
        </p:txBody>
      </p:sp>
      <p:sp>
        <p:nvSpPr>
          <p:cNvPr id="11" name="Text 8"/>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2" name="Text 9"/>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31863E"/>
                </a:solidFill>
                <a:latin typeface="Calibri" pitchFamily="34" charset="0"/>
                <a:ea typeface="Calibri" pitchFamily="34" charset="-122"/>
                <a:cs typeface="Calibri" pitchFamily="34" charset="-120"/>
              </a:rPr>
              <a:t>VERIFIED AGAINST THE MARKETPLACE PACKAGE</a:t>
            </a:r>
            <a:endParaRPr lang="en-US" sz="1100" dirty="0"/>
          </a:p>
        </p:txBody>
      </p:sp>
      <p:sp>
        <p:nvSpPr>
          <p:cNvPr id="3" name="Text 1"/>
          <p:cNvSpPr/>
          <p:nvPr/>
        </p:nvSpPr>
        <p:spPr>
          <a:xfrm>
            <a:off x="548640" y="658368"/>
            <a:ext cx="11064240" cy="548640"/>
          </a:xfrm>
          <a:prstGeom prst="rect">
            <a:avLst/>
          </a:prstGeom>
          <a:noFill/>
          <a:ln/>
        </p:spPr>
        <p:txBody>
          <a:bodyPr wrap="square" lIns="0" tIns="0" rIns="0" bIns="0"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Where the submission stands on spec</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828800"/>
                <a:gridCol w="4480560"/>
                <a:gridCol w="3200400"/>
                <a:gridCol w="155448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REQUIREMENT</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THE PACKAGE SAYS</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WE ARE</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c>
                  <a:txBody>
                    <a:bodyPr/>
                    <a:lstStyle/>
                    <a:p>
                      <a:pPr indent="0" marL="0">
                        <a:buNone/>
                      </a:pPr>
                      <a:endParaRPr lang="en-US" sz="1200" dirty="0"/>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Runtime</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5:00 hard cap; over-length is not assessed</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4:41</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algn="ctr" indent="0" marL="0">
                        <a:buNone/>
                      </a:pPr>
                      <a:r>
                        <a:rPr lang="en-US" sz="900" b="1" dirty="0">
                          <a:solidFill>
                            <a:srgbClr val="31863E"/>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Resolution</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HD 1920 x 1080</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1920 x 1080</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1863E"/>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Frame rate</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23.98 FPS</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v1 masters built at 30 fps</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algn="ctr" indent="0" marL="0">
                        <a:buNone/>
                      </a:pPr>
                      <a:r>
                        <a:rPr lang="en-US" sz="900" b="1" dirty="0">
                          <a:solidFill>
                            <a:srgbClr val="B26B00"/>
                          </a:solidFill>
                          <a:latin typeface="Calibri" pitchFamily="34" charset="0"/>
                          <a:ea typeface="Calibri" pitchFamily="34" charset="-122"/>
                          <a:cs typeface="Calibri" pitchFamily="34" charset="-120"/>
                        </a:rPr>
                        <a:t>FIX</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File</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.mp4, streaming-encoded, under 1 GB</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13 MB</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1863E"/>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Colour space</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Rec709 or sRGB</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confirm at final encode</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algn="ctr" indent="0" marL="0">
                        <a:buNone/>
                      </a:pPr>
                      <a:r>
                        <a:rPr lang="en-US" sz="900" b="1" dirty="0">
                          <a:solidFill>
                            <a:srgbClr val="B26B00"/>
                          </a:solidFill>
                          <a:latin typeface="Calibri" pitchFamily="34" charset="0"/>
                          <a:ea typeface="Calibri" pitchFamily="34" charset="-122"/>
                          <a:cs typeface="Calibri" pitchFamily="34" charset="-120"/>
                        </a:rPr>
                        <a:t>CHECK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Required elements</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Problem / Mission / State of the art / Business model</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all four present</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1863E"/>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Business model</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Describe how the model works. No rates or non-public pricing.</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thin after the removal</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algn="ctr" indent="0" marL="0">
                        <a:buNone/>
                      </a:pPr>
                      <a:r>
                        <a:rPr lang="en-US" sz="900" b="1" dirty="0">
                          <a:solidFill>
                            <a:srgbClr val="B26B00"/>
                          </a:solidFill>
                          <a:latin typeface="Calibri" pitchFamily="34" charset="0"/>
                          <a:ea typeface="Calibri" pitchFamily="34" charset="-122"/>
                          <a:cs typeface="Calibri" pitchFamily="34" charset="-120"/>
                        </a:rPr>
                        <a:t>FIX</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TRL</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Must align to the business model</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TRL 5-6, unconfirmed</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26B00"/>
                          </a:solidFill>
                          <a:latin typeface="Calibri" pitchFamily="34" charset="0"/>
                          <a:ea typeface="Calibri" pitchFamily="34" charset="-122"/>
                          <a:cs typeface="Calibri" pitchFamily="34" charset="-120"/>
                        </a:rPr>
                        <a:t>CHECK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Point of contact</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A responsive contact person, reachable directly</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placeholder</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algn="ctr" indent="0" marL="0">
                        <a:buNone/>
                      </a:pPr>
                      <a:r>
                        <a:rPr lang="en-US" sz="900" b="1" dirty="0">
                          <a:solidFill>
                            <a:srgbClr val="B26B00"/>
                          </a:solidFill>
                          <a:latin typeface="Calibri" pitchFamily="34" charset="0"/>
                          <a:ea typeface="Calibri" pitchFamily="34" charset="-122"/>
                          <a:cs typeface="Calibri" pitchFamily="34" charset="-120"/>
                        </a:rPr>
                        <a:t>FIX</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329184">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Aisle name</a:t>
                      </a:r>
                      <a:endParaRPr lang="en-US" sz="105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5A6568"/>
                          </a:solidFill>
                          <a:latin typeface="Calibri" pitchFamily="34" charset="0"/>
                          <a:ea typeface="Calibri" pitchFamily="34" charset="-122"/>
                          <a:cs typeface="Calibri" pitchFamily="34" charset="-120"/>
                        </a:rPr>
                        <a:t>SBIR/STTR Aisle of the Solutions Marketplace</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corrected from "Silver Aisle"</a:t>
                      </a:r>
                      <a:endParaRPr lang="en-US" sz="10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31863E"/>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54864" marR="54864" marT="54864" marB="54864"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257800"/>
            <a:ext cx="10972800" cy="274320"/>
          </a:xfrm>
          <a:prstGeom prst="rect">
            <a:avLst/>
          </a:prstGeom>
          <a:noFill/>
          <a:ln/>
        </p:spPr>
        <p:txBody>
          <a:bodyPr wrap="square" lIns="0" tIns="0" rIns="0" bIns="0" rtlCol="0" anchor="ctr"/>
          <a:lstStyle/>
          <a:p>
            <a:pPr indent="0" marL="0">
              <a:buNone/>
            </a:pPr>
            <a:r>
              <a:rPr lang="en-US" sz="950" i="1" dirty="0">
                <a:solidFill>
                  <a:srgbClr val="5A6568"/>
                </a:solidFill>
                <a:latin typeface="Calibri" pitchFamily="34" charset="0"/>
                <a:ea typeface="Calibri" pitchFamily="34" charset="-122"/>
                <a:cs typeface="Calibri" pitchFamily="34" charset="-120"/>
              </a:rPr>
              <a:t>Sources: tradewindai.com/faqs, tradewindai.com/sbir-sttr-aisle, tradewindai.com/tw-marketplace</a:t>
            </a:r>
            <a:endParaRPr lang="en-US" sz="950" dirty="0"/>
          </a:p>
        </p:txBody>
      </p:sp>
      <p:sp>
        <p:nvSpPr>
          <p:cNvPr id="6" name="Text 3"/>
          <p:cNvSpPr/>
          <p:nvPr/>
        </p:nvSpPr>
        <p:spPr>
          <a:xfrm>
            <a:off x="548640" y="5577840"/>
            <a:ext cx="10972800" cy="320040"/>
          </a:xfrm>
          <a:prstGeom prst="rect">
            <a:avLst/>
          </a:prstGeom>
          <a:noFill/>
          <a:ln/>
        </p:spPr>
        <p:txBody>
          <a:bodyPr wrap="square" lIns="0" tIns="0" rIns="0" bIns="0" rtlCol="0" anchor="ctr"/>
          <a:lstStyle/>
          <a:p>
            <a:pPr indent="0" marL="0">
              <a:buNone/>
            </a:pPr>
            <a:r>
              <a:rPr lang="en-US" sz="1100" b="1" dirty="0">
                <a:solidFill>
                  <a:srgbClr val="B26B00"/>
                </a:solidFill>
                <a:latin typeface="Calibri" pitchFamily="34" charset="0"/>
                <a:ea typeface="Calibri" pitchFamily="34" charset="-122"/>
                <a:cs typeface="Calibri" pitchFamily="34" charset="-120"/>
              </a:rPr>
              <a:t>Frame rate was never on our compliance checklist, so it was never checked. Build scripts are corrected; the existing renders are off-spec until rebuilt.</a:t>
            </a:r>
            <a:endParaRPr lang="en-US" sz="1100" dirty="0"/>
          </a:p>
        </p:txBody>
      </p:sp>
      <p:sp>
        <p:nvSpPr>
          <p:cNvPr id="7" name="Text 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8" name="Text 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31863E"/>
                </a:solidFill>
                <a:latin typeface="Calibri" pitchFamily="34" charset="0"/>
                <a:ea typeface="Calibri" pitchFamily="34" charset="-122"/>
                <a:cs typeface="Calibri" pitchFamily="34" charset="-120"/>
              </a:rPr>
              <a:t>TIMING</a:t>
            </a:r>
            <a:endParaRPr lang="en-US" sz="1100" dirty="0"/>
          </a:p>
        </p:txBody>
      </p:sp>
      <p:sp>
        <p:nvSpPr>
          <p:cNvPr id="3" name="Text 1"/>
          <p:cNvSpPr/>
          <p:nvPr/>
        </p:nvSpPr>
        <p:spPr>
          <a:xfrm>
            <a:off x="548640" y="658368"/>
            <a:ext cx="11064240" cy="548640"/>
          </a:xfrm>
          <a:prstGeom prst="rect">
            <a:avLst/>
          </a:prstGeom>
          <a:noFill/>
          <a:ln/>
        </p:spPr>
        <p:txBody>
          <a:bodyPr wrap="square" lIns="0" tIns="0" rIns="0" bIns="0"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Three shots re-timed, total runtime unchanged</a:t>
            </a:r>
            <a:endParaRPr lang="en-US" sz="3200" dirty="0"/>
          </a:p>
        </p:txBody>
      </p:sp>
      <p:sp>
        <p:nvSpPr>
          <p:cNvPr id="4" name="Text 2"/>
          <p:cNvSpPr/>
          <p:nvPr/>
        </p:nvSpPr>
        <p:spPr>
          <a:xfrm>
            <a:off x="548640" y="1600200"/>
            <a:ext cx="1188720" cy="274320"/>
          </a:xfrm>
          <a:prstGeom prst="rect">
            <a:avLst/>
          </a:prstGeom>
          <a:noFill/>
          <a:ln/>
        </p:spPr>
        <p:txBody>
          <a:bodyPr wrap="square" lIns="0" tIns="0" rIns="0" bIns="0" rtlCol="0" anchor="ctr"/>
          <a:lstStyle/>
          <a:p>
            <a:pPr indent="0" marL="0">
              <a:buNone/>
            </a:pPr>
            <a:r>
              <a:rPr lang="en-US" sz="1300" b="1" dirty="0">
                <a:solidFill>
                  <a:srgbClr val="1B1B1B"/>
                </a:solidFill>
                <a:latin typeface="Calibri" pitchFamily="34" charset="0"/>
                <a:ea typeface="Calibri" pitchFamily="34" charset="-122"/>
                <a:cs typeface="Calibri" pitchFamily="34" charset="-120"/>
              </a:rPr>
              <a:t>Shot 13</a:t>
            </a:r>
            <a:endParaRPr lang="en-US" sz="1300" dirty="0"/>
          </a:p>
        </p:txBody>
      </p:sp>
      <p:sp>
        <p:nvSpPr>
          <p:cNvPr id="5" name="Text 3"/>
          <p:cNvSpPr/>
          <p:nvPr/>
        </p:nvSpPr>
        <p:spPr>
          <a:xfrm>
            <a:off x="548640" y="1874520"/>
            <a:ext cx="2377440" cy="274320"/>
          </a:xfrm>
          <a:prstGeom prst="rect">
            <a:avLst/>
          </a:prstGeom>
          <a:noFill/>
          <a:ln/>
        </p:spPr>
        <p:txBody>
          <a:bodyPr wrap="square" lIns="0" tIns="0" rIns="0" bIns="0" rtlCol="0" anchor="ctr"/>
          <a:lstStyle/>
          <a:p>
            <a:pPr indent="0" marL="0">
              <a:buNone/>
            </a:pPr>
            <a:r>
              <a:rPr lang="en-US" sz="1050" dirty="0">
                <a:solidFill>
                  <a:srgbClr val="5A6568"/>
                </a:solidFill>
                <a:latin typeface="Calibri" pitchFamily="34" charset="0"/>
                <a:ea typeface="Calibri" pitchFamily="34" charset="-122"/>
                <a:cs typeface="Calibri" pitchFamily="34" charset="-120"/>
              </a:rPr>
              <a:t>Auditor-ready package</a:t>
            </a:r>
            <a:endParaRPr lang="en-US" sz="1050" dirty="0"/>
          </a:p>
        </p:txBody>
      </p:sp>
      <p:sp>
        <p:nvSpPr>
          <p:cNvPr id="6" name="Shape 4"/>
          <p:cNvSpPr/>
          <p:nvPr/>
        </p:nvSpPr>
        <p:spPr>
          <a:xfrm>
            <a:off x="3108960" y="1581912"/>
            <a:ext cx="4974336" cy="310896"/>
          </a:xfrm>
          <a:prstGeom prst="roundRect">
            <a:avLst>
              <a:gd name="adj" fmla="val 11765"/>
            </a:avLst>
          </a:prstGeom>
          <a:solidFill>
            <a:srgbClr val="C9D2CD"/>
          </a:solidFill>
          <a:ln/>
        </p:spPr>
      </p:sp>
      <p:sp>
        <p:nvSpPr>
          <p:cNvPr id="7" name="Text 5"/>
          <p:cNvSpPr/>
          <p:nvPr/>
        </p:nvSpPr>
        <p:spPr>
          <a:xfrm>
            <a:off x="8174736" y="1581912"/>
            <a:ext cx="1097280" cy="310896"/>
          </a:xfrm>
          <a:prstGeom prst="rect">
            <a:avLst/>
          </a:prstGeom>
          <a:noFill/>
          <a:ln/>
        </p:spPr>
        <p:txBody>
          <a:bodyPr wrap="square" lIns="0" tIns="0" rIns="0" bIns="0" rtlCol="0" anchor="ctr"/>
          <a:lstStyle/>
          <a:p>
            <a:pPr indent="0" marL="0">
              <a:buNone/>
            </a:pPr>
            <a:r>
              <a:rPr lang="en-US" sz="1000" dirty="0">
                <a:solidFill>
                  <a:srgbClr val="5A6568"/>
                </a:solidFill>
                <a:latin typeface="Calibri" pitchFamily="34" charset="0"/>
                <a:ea typeface="Calibri" pitchFamily="34" charset="-122"/>
                <a:cs typeface="Calibri" pitchFamily="34" charset="-120"/>
              </a:rPr>
              <a:t>was 16s</a:t>
            </a:r>
            <a:endParaRPr lang="en-US" sz="1000" dirty="0"/>
          </a:p>
        </p:txBody>
      </p:sp>
      <p:sp>
        <p:nvSpPr>
          <p:cNvPr id="8" name="Shape 6"/>
          <p:cNvSpPr/>
          <p:nvPr/>
        </p:nvSpPr>
        <p:spPr>
          <a:xfrm>
            <a:off x="3108960" y="1984248"/>
            <a:ext cx="5596128" cy="310896"/>
          </a:xfrm>
          <a:prstGeom prst="roundRect">
            <a:avLst>
              <a:gd name="adj" fmla="val 11765"/>
            </a:avLst>
          </a:prstGeom>
          <a:solidFill>
            <a:srgbClr val="31863E"/>
          </a:solidFill>
          <a:ln/>
        </p:spPr>
      </p:sp>
      <p:sp>
        <p:nvSpPr>
          <p:cNvPr id="9" name="Text 7"/>
          <p:cNvSpPr/>
          <p:nvPr/>
        </p:nvSpPr>
        <p:spPr>
          <a:xfrm>
            <a:off x="8796528" y="1984248"/>
            <a:ext cx="1097280" cy="310896"/>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now 18s</a:t>
            </a:r>
            <a:endParaRPr lang="en-US" sz="1000" dirty="0"/>
          </a:p>
        </p:txBody>
      </p:sp>
      <p:sp>
        <p:nvSpPr>
          <p:cNvPr id="10" name="Text 8"/>
          <p:cNvSpPr/>
          <p:nvPr/>
        </p:nvSpPr>
        <p:spPr>
          <a:xfrm>
            <a:off x="548640" y="2834640"/>
            <a:ext cx="1188720" cy="274320"/>
          </a:xfrm>
          <a:prstGeom prst="rect">
            <a:avLst/>
          </a:prstGeom>
          <a:noFill/>
          <a:ln/>
        </p:spPr>
        <p:txBody>
          <a:bodyPr wrap="square" lIns="0" tIns="0" rIns="0" bIns="0" rtlCol="0" anchor="ctr"/>
          <a:lstStyle/>
          <a:p>
            <a:pPr indent="0" marL="0">
              <a:buNone/>
            </a:pPr>
            <a:r>
              <a:rPr lang="en-US" sz="1300" b="1" dirty="0">
                <a:solidFill>
                  <a:srgbClr val="1B1B1B"/>
                </a:solidFill>
                <a:latin typeface="Calibri" pitchFamily="34" charset="0"/>
                <a:ea typeface="Calibri" pitchFamily="34" charset="-122"/>
                <a:cs typeface="Calibri" pitchFamily="34" charset="-120"/>
              </a:rPr>
              <a:t>Shot 16</a:t>
            </a:r>
            <a:endParaRPr lang="en-US" sz="1300" dirty="0"/>
          </a:p>
        </p:txBody>
      </p:sp>
      <p:sp>
        <p:nvSpPr>
          <p:cNvPr id="11" name="Text 9"/>
          <p:cNvSpPr/>
          <p:nvPr/>
        </p:nvSpPr>
        <p:spPr>
          <a:xfrm>
            <a:off x="548640" y="3108960"/>
            <a:ext cx="2377440" cy="274320"/>
          </a:xfrm>
          <a:prstGeom prst="rect">
            <a:avLst/>
          </a:prstGeom>
          <a:noFill/>
          <a:ln/>
        </p:spPr>
        <p:txBody>
          <a:bodyPr wrap="square" lIns="0" tIns="0" rIns="0" bIns="0" rtlCol="0" anchor="ctr"/>
          <a:lstStyle/>
          <a:p>
            <a:pPr indent="0" marL="0">
              <a:buNone/>
            </a:pPr>
            <a:r>
              <a:rPr lang="en-US" sz="1050" dirty="0">
                <a:solidFill>
                  <a:srgbClr val="5A6568"/>
                </a:solidFill>
                <a:latin typeface="Calibri" pitchFamily="34" charset="0"/>
                <a:ea typeface="Calibri" pitchFamily="34" charset="-122"/>
                <a:cs typeface="Calibri" pitchFamily="34" charset="-120"/>
              </a:rPr>
              <a:t>Advancing the state of the art</a:t>
            </a:r>
            <a:endParaRPr lang="en-US" sz="1050" dirty="0"/>
          </a:p>
        </p:txBody>
      </p:sp>
      <p:sp>
        <p:nvSpPr>
          <p:cNvPr id="12" name="Shape 10"/>
          <p:cNvSpPr/>
          <p:nvPr/>
        </p:nvSpPr>
        <p:spPr>
          <a:xfrm>
            <a:off x="3108960" y="2816352"/>
            <a:ext cx="5596128" cy="310896"/>
          </a:xfrm>
          <a:prstGeom prst="roundRect">
            <a:avLst>
              <a:gd name="adj" fmla="val 11765"/>
            </a:avLst>
          </a:prstGeom>
          <a:solidFill>
            <a:srgbClr val="C9D2CD"/>
          </a:solidFill>
          <a:ln/>
        </p:spPr>
      </p:sp>
      <p:sp>
        <p:nvSpPr>
          <p:cNvPr id="13" name="Text 11"/>
          <p:cNvSpPr/>
          <p:nvPr/>
        </p:nvSpPr>
        <p:spPr>
          <a:xfrm>
            <a:off x="8796528" y="2816352"/>
            <a:ext cx="1097280" cy="310896"/>
          </a:xfrm>
          <a:prstGeom prst="rect">
            <a:avLst/>
          </a:prstGeom>
          <a:noFill/>
          <a:ln/>
        </p:spPr>
        <p:txBody>
          <a:bodyPr wrap="square" lIns="0" tIns="0" rIns="0" bIns="0" rtlCol="0" anchor="ctr"/>
          <a:lstStyle/>
          <a:p>
            <a:pPr indent="0" marL="0">
              <a:buNone/>
            </a:pPr>
            <a:r>
              <a:rPr lang="en-US" sz="1000" dirty="0">
                <a:solidFill>
                  <a:srgbClr val="5A6568"/>
                </a:solidFill>
                <a:latin typeface="Calibri" pitchFamily="34" charset="0"/>
                <a:ea typeface="Calibri" pitchFamily="34" charset="-122"/>
                <a:cs typeface="Calibri" pitchFamily="34" charset="-120"/>
              </a:rPr>
              <a:t>was 18s</a:t>
            </a:r>
            <a:endParaRPr lang="en-US" sz="1000" dirty="0"/>
          </a:p>
        </p:txBody>
      </p:sp>
      <p:sp>
        <p:nvSpPr>
          <p:cNvPr id="14" name="Shape 12"/>
          <p:cNvSpPr/>
          <p:nvPr/>
        </p:nvSpPr>
        <p:spPr>
          <a:xfrm>
            <a:off x="3108960" y="3218688"/>
            <a:ext cx="6528816" cy="310896"/>
          </a:xfrm>
          <a:prstGeom prst="roundRect">
            <a:avLst>
              <a:gd name="adj" fmla="val 11765"/>
            </a:avLst>
          </a:prstGeom>
          <a:solidFill>
            <a:srgbClr val="31863E"/>
          </a:solidFill>
          <a:ln/>
        </p:spPr>
      </p:sp>
      <p:sp>
        <p:nvSpPr>
          <p:cNvPr id="15" name="Text 13"/>
          <p:cNvSpPr/>
          <p:nvPr/>
        </p:nvSpPr>
        <p:spPr>
          <a:xfrm>
            <a:off x="9729216" y="3218688"/>
            <a:ext cx="1097280" cy="310896"/>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now 21s</a:t>
            </a:r>
            <a:endParaRPr lang="en-US" sz="1000" dirty="0"/>
          </a:p>
        </p:txBody>
      </p:sp>
      <p:sp>
        <p:nvSpPr>
          <p:cNvPr id="16" name="Text 14"/>
          <p:cNvSpPr/>
          <p:nvPr/>
        </p:nvSpPr>
        <p:spPr>
          <a:xfrm>
            <a:off x="548640" y="4069080"/>
            <a:ext cx="1188720" cy="274320"/>
          </a:xfrm>
          <a:prstGeom prst="rect">
            <a:avLst/>
          </a:prstGeom>
          <a:noFill/>
          <a:ln/>
        </p:spPr>
        <p:txBody>
          <a:bodyPr wrap="square" lIns="0" tIns="0" rIns="0" bIns="0" rtlCol="0" anchor="ctr"/>
          <a:lstStyle/>
          <a:p>
            <a:pPr indent="0" marL="0">
              <a:buNone/>
            </a:pPr>
            <a:r>
              <a:rPr lang="en-US" sz="1300" b="1" dirty="0">
                <a:solidFill>
                  <a:srgbClr val="1B1B1B"/>
                </a:solidFill>
                <a:latin typeface="Calibri" pitchFamily="34" charset="0"/>
                <a:ea typeface="Calibri" pitchFamily="34" charset="-122"/>
                <a:cs typeface="Calibri" pitchFamily="34" charset="-120"/>
              </a:rPr>
              <a:t>Shot 18</a:t>
            </a:r>
            <a:endParaRPr lang="en-US" sz="1300" dirty="0"/>
          </a:p>
        </p:txBody>
      </p:sp>
      <p:sp>
        <p:nvSpPr>
          <p:cNvPr id="17" name="Text 15"/>
          <p:cNvSpPr/>
          <p:nvPr/>
        </p:nvSpPr>
        <p:spPr>
          <a:xfrm>
            <a:off x="548640" y="4343400"/>
            <a:ext cx="2377440" cy="274320"/>
          </a:xfrm>
          <a:prstGeom prst="rect">
            <a:avLst/>
          </a:prstGeom>
          <a:noFill/>
          <a:ln/>
        </p:spPr>
        <p:txBody>
          <a:bodyPr wrap="square" lIns="0" tIns="0" rIns="0" bIns="0" rtlCol="0" anchor="ctr"/>
          <a:lstStyle/>
          <a:p>
            <a:pPr indent="0" marL="0">
              <a:buNone/>
            </a:pPr>
            <a:r>
              <a:rPr lang="en-US" sz="1050" dirty="0">
                <a:solidFill>
                  <a:srgbClr val="5A6568"/>
                </a:solidFill>
                <a:latin typeface="Calibri" pitchFamily="34" charset="0"/>
                <a:ea typeface="Calibri" pitchFamily="34" charset="-122"/>
                <a:cs typeface="Calibri" pitchFamily="34" charset="-120"/>
              </a:rPr>
              <a:t>Call to action</a:t>
            </a:r>
            <a:endParaRPr lang="en-US" sz="1050" dirty="0"/>
          </a:p>
        </p:txBody>
      </p:sp>
      <p:sp>
        <p:nvSpPr>
          <p:cNvPr id="18" name="Shape 16"/>
          <p:cNvSpPr/>
          <p:nvPr/>
        </p:nvSpPr>
        <p:spPr>
          <a:xfrm>
            <a:off x="3108960" y="4050792"/>
            <a:ext cx="4663440" cy="310896"/>
          </a:xfrm>
          <a:prstGeom prst="roundRect">
            <a:avLst>
              <a:gd name="adj" fmla="val 11765"/>
            </a:avLst>
          </a:prstGeom>
          <a:solidFill>
            <a:srgbClr val="C9D2CD"/>
          </a:solidFill>
          <a:ln/>
        </p:spPr>
      </p:sp>
      <p:sp>
        <p:nvSpPr>
          <p:cNvPr id="19" name="Text 17"/>
          <p:cNvSpPr/>
          <p:nvPr/>
        </p:nvSpPr>
        <p:spPr>
          <a:xfrm>
            <a:off x="7863840" y="4050792"/>
            <a:ext cx="1097280" cy="310896"/>
          </a:xfrm>
          <a:prstGeom prst="rect">
            <a:avLst/>
          </a:prstGeom>
          <a:noFill/>
          <a:ln/>
        </p:spPr>
        <p:txBody>
          <a:bodyPr wrap="square" lIns="0" tIns="0" rIns="0" bIns="0" rtlCol="0" anchor="ctr"/>
          <a:lstStyle/>
          <a:p>
            <a:pPr indent="0" marL="0">
              <a:buNone/>
            </a:pPr>
            <a:r>
              <a:rPr lang="en-US" sz="1000" dirty="0">
                <a:solidFill>
                  <a:srgbClr val="5A6568"/>
                </a:solidFill>
                <a:latin typeface="Calibri" pitchFamily="34" charset="0"/>
                <a:ea typeface="Calibri" pitchFamily="34" charset="-122"/>
                <a:cs typeface="Calibri" pitchFamily="34" charset="-120"/>
              </a:rPr>
              <a:t>was 15s</a:t>
            </a:r>
            <a:endParaRPr lang="en-US" sz="1000" dirty="0"/>
          </a:p>
        </p:txBody>
      </p:sp>
      <p:sp>
        <p:nvSpPr>
          <p:cNvPr id="20" name="Shape 18"/>
          <p:cNvSpPr/>
          <p:nvPr/>
        </p:nvSpPr>
        <p:spPr>
          <a:xfrm>
            <a:off x="3108960" y="4453128"/>
            <a:ext cx="3108960" cy="310896"/>
          </a:xfrm>
          <a:prstGeom prst="roundRect">
            <a:avLst>
              <a:gd name="adj" fmla="val 11765"/>
            </a:avLst>
          </a:prstGeom>
          <a:solidFill>
            <a:srgbClr val="B26B00"/>
          </a:solidFill>
          <a:ln/>
        </p:spPr>
      </p:sp>
      <p:sp>
        <p:nvSpPr>
          <p:cNvPr id="21" name="Text 19"/>
          <p:cNvSpPr/>
          <p:nvPr/>
        </p:nvSpPr>
        <p:spPr>
          <a:xfrm>
            <a:off x="6309360" y="4453128"/>
            <a:ext cx="1097280" cy="310896"/>
          </a:xfrm>
          <a:prstGeom prst="rect">
            <a:avLst/>
          </a:prstGeom>
          <a:noFill/>
          <a:ln/>
        </p:spPr>
        <p:txBody>
          <a:bodyPr wrap="square" lIns="0" tIns="0" rIns="0" bIns="0" rtlCol="0" anchor="ctr"/>
          <a:lstStyle/>
          <a:p>
            <a:pPr indent="0" marL="0">
              <a:buNone/>
            </a:pPr>
            <a:r>
              <a:rPr lang="en-US" sz="1000" b="1" dirty="0">
                <a:solidFill>
                  <a:srgbClr val="B26B00"/>
                </a:solidFill>
                <a:latin typeface="Calibri" pitchFamily="34" charset="0"/>
                <a:ea typeface="Calibri" pitchFamily="34" charset="-122"/>
                <a:cs typeface="Calibri" pitchFamily="34" charset="-120"/>
              </a:rPr>
              <a:t>now 10s</a:t>
            </a:r>
            <a:endParaRPr lang="en-US" sz="1000" dirty="0"/>
          </a:p>
        </p:txBody>
      </p:sp>
      <p:sp>
        <p:nvSpPr>
          <p:cNvPr id="22" name="Shape 20"/>
          <p:cNvSpPr/>
          <p:nvPr/>
        </p:nvSpPr>
        <p:spPr>
          <a:xfrm>
            <a:off x="548640" y="5349240"/>
            <a:ext cx="11064240" cy="868680"/>
          </a:xfrm>
          <a:prstGeom prst="roundRect">
            <a:avLst>
              <a:gd name="adj" fmla="val 8421"/>
            </a:avLst>
          </a:prstGeom>
          <a:solidFill>
            <a:srgbClr val="F1F5F3"/>
          </a:solidFill>
          <a:ln w="12700">
            <a:solidFill>
              <a:srgbClr val="D8DEDB"/>
            </a:solidFill>
            <a:prstDash val="solid"/>
          </a:ln>
        </p:spPr>
      </p:sp>
      <p:sp>
        <p:nvSpPr>
          <p:cNvPr id="23" name="Text 21"/>
          <p:cNvSpPr/>
          <p:nvPr/>
        </p:nvSpPr>
        <p:spPr>
          <a:xfrm>
            <a:off x="822960" y="5504688"/>
            <a:ext cx="10607040" cy="640080"/>
          </a:xfrm>
          <a:prstGeom prst="rect">
            <a:avLst/>
          </a:prstGeom>
          <a:noFill/>
          <a:ln/>
        </p:spPr>
        <p:txBody>
          <a:bodyPr wrap="square" lIns="0" tIns="0" rIns="0" bIns="0" rtlCol="0" anchor="ctr"/>
          <a:lstStyle/>
          <a:p>
            <a:pPr indent="0" marL="0">
              <a:lnSpc>
                <a:spcPts val="1600"/>
              </a:lnSpc>
              <a:buNone/>
            </a:pPr>
            <a:r>
              <a:rPr lang="en-US" sz="1200" dirty="0">
                <a:solidFill>
                  <a:srgbClr val="1B1B1B"/>
                </a:solidFill>
                <a:latin typeface="Calibri" pitchFamily="34" charset="0"/>
                <a:ea typeface="Calibri" pitchFamily="34" charset="-122"/>
                <a:cs typeface="Calibri" pitchFamily="34" charset="-120"/>
              </a:rPr>
              <a:t>Net zero. Two beats gained 5 seconds and the call to action gave 5 back, so the cut stays at 4:41 and shots 19 and 20 land on exactly the timecodes they did before. Everything from 2:47 onward shifts; everything before it is untouched.</a:t>
            </a:r>
            <a:endParaRPr lang="en-US" sz="1200" dirty="0"/>
          </a:p>
        </p:txBody>
      </p:sp>
      <p:sp>
        <p:nvSpPr>
          <p:cNvPr id="24" name="Text 22"/>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5" name="Text 23"/>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1</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0:00 - 0:08</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1 — Defining the Problem</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We're Guidehouse, and we're here to show you how we're solving one of the hardest problems in federal financial management.</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GUIDEHOUSE</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Produced cold open — title card / problem b-roll. No on-camera presenter.</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2</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20s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0:08 - 0:28</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1 — Defining the Problem</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Audit readiness inside the federal government is broken — and not for lack of effort. Teams are buried in unstructured records, manual reconciliations, and classification work that auditors expect resolved on demand. Records requests bounce between inboxes for weeks.</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Audit readiness is broken — not for lack of effort</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B-roll montage: stacks of paper records, scrolling spreadsheets, an inbox counter spiking, an 'auditor request' badge. Desaturated, slightly anxious pace.</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3</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18s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0:28 - 0:46</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1 — Defining the Problem (applicability &amp; impact)</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The cost shows up everywhere — in cycle time, in audit findings, and in analysts who spend their week searching shared drives instead of doing real analysis. It's the same story across every federal financial shop. That's the problem we built Financial Management of the Future to solve.</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Cycle time · Audit findings · Lost analyst hours</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Three cost icons; widen from one desk to a grid of agencies to signal broad applicability. Transition lifts from desaturated into brand palette.</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4</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15s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0:46 - 1:01</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Bridge — the product (one integrated solution)</a:t>
            </a:r>
            <a:endParaRPr lang="en-US" sz="1100" dirty="0"/>
          </a:p>
        </p:txBody>
      </p:sp>
      <p:sp>
        <p:nvSpPr>
          <p:cNvPr id="7" name="Shape 5"/>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RE-CAPTURE</a:t>
            </a:r>
            <a:endParaRPr lang="en-US" sz="850" dirty="0"/>
          </a:p>
        </p:txBody>
      </p:sp>
      <p:sp>
        <p:nvSpPr>
          <p:cNvPr id="9" name="Shape 7"/>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0" name="Text 8"/>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1" name="Text 9"/>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On-screen text: dropped the retired "(working title - final name TBD)" caveat.</a:t>
            </a:r>
            <a:endParaRPr lang="en-US" sz="1100" dirty="0"/>
          </a:p>
        </p:txBody>
      </p:sp>
      <p:sp>
        <p:nvSpPr>
          <p:cNvPr id="12" name="Shape 10"/>
          <p:cNvSpPr/>
          <p:nvPr/>
        </p:nvSpPr>
        <p:spPr>
          <a:xfrm>
            <a:off x="457200" y="2414016"/>
            <a:ext cx="11201400" cy="1376538"/>
          </a:xfrm>
          <a:prstGeom prst="roundRect">
            <a:avLst>
              <a:gd name="adj" fmla="val 5314"/>
            </a:avLst>
          </a:prstGeom>
          <a:solidFill>
            <a:srgbClr val="F1F5F3"/>
          </a:solidFill>
          <a:ln w="12700">
            <a:solidFill>
              <a:srgbClr val="D8DEDB"/>
            </a:solidFill>
            <a:prstDash val="solid"/>
          </a:ln>
        </p:spPr>
      </p:sp>
      <p:sp>
        <p:nvSpPr>
          <p:cNvPr id="13" name="Text 11"/>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4" name="Text 12"/>
          <p:cNvSpPr/>
          <p:nvPr/>
        </p:nvSpPr>
        <p:spPr>
          <a:xfrm>
            <a:off x="713232" y="2724912"/>
            <a:ext cx="10698480" cy="974202"/>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Financial Management of the Future is a single product Guidehouse already runs in production. One platform, one audit-ready pipeline — with two capabilities working on the same records: Agentic Reconciliation matches and cleans the source data, and the PBC Request Agent packages it for the auditor.</a:t>
            </a:r>
            <a:endParaRPr lang="en-US" sz="1150" dirty="0"/>
          </a:p>
        </p:txBody>
      </p:sp>
      <p:sp>
        <p:nvSpPr>
          <p:cNvPr id="15" name="Shape 13"/>
          <p:cNvSpPr/>
          <p:nvPr/>
        </p:nvSpPr>
        <p:spPr>
          <a:xfrm>
            <a:off x="457200" y="3973434"/>
            <a:ext cx="11201400" cy="917692"/>
          </a:xfrm>
          <a:prstGeom prst="roundRect">
            <a:avLst>
              <a:gd name="adj" fmla="val 7971"/>
            </a:avLst>
          </a:prstGeom>
          <a:solidFill>
            <a:srgbClr val="FFFFFF"/>
          </a:solidFill>
          <a:ln w="12700">
            <a:solidFill>
              <a:srgbClr val="D8DEDB"/>
            </a:solidFill>
            <a:prstDash val="solid"/>
          </a:ln>
        </p:spPr>
      </p:sp>
      <p:sp>
        <p:nvSpPr>
          <p:cNvPr id="16" name="Text 14"/>
          <p:cNvSpPr/>
          <p:nvPr/>
        </p:nvSpPr>
        <p:spPr>
          <a:xfrm>
            <a:off x="713232" y="4055730"/>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7" name="Text 15"/>
          <p:cNvSpPr/>
          <p:nvPr/>
        </p:nvSpPr>
        <p:spPr>
          <a:xfrm>
            <a:off x="713232" y="4284330"/>
            <a:ext cx="10698480" cy="51535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Financial Management of the Future   ·   one product · two capabilities</a:t>
            </a:r>
            <a:endParaRPr lang="en-US" sz="1150" dirty="0"/>
          </a:p>
        </p:txBody>
      </p:sp>
      <p:sp>
        <p:nvSpPr>
          <p:cNvPr id="18" name="Shape 16"/>
          <p:cNvSpPr/>
          <p:nvPr/>
        </p:nvSpPr>
        <p:spPr>
          <a:xfrm>
            <a:off x="457200" y="5074006"/>
            <a:ext cx="11201400" cy="1235354"/>
          </a:xfrm>
          <a:prstGeom prst="roundRect">
            <a:avLst>
              <a:gd name="adj" fmla="val 5922"/>
            </a:avLst>
          </a:prstGeom>
          <a:solidFill>
            <a:srgbClr val="FFFFFF"/>
          </a:solidFill>
          <a:ln w="12700">
            <a:solidFill>
              <a:srgbClr val="D8DEDB"/>
            </a:solidFill>
            <a:prstDash val="solid"/>
          </a:ln>
        </p:spPr>
      </p:sp>
      <p:sp>
        <p:nvSpPr>
          <p:cNvPr id="19" name="Text 17"/>
          <p:cNvSpPr/>
          <p:nvPr/>
        </p:nvSpPr>
        <p:spPr>
          <a:xfrm>
            <a:off x="713232" y="515630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0" name="Text 18"/>
          <p:cNvSpPr/>
          <p:nvPr/>
        </p:nvSpPr>
        <p:spPr>
          <a:xfrm>
            <a:off x="713232" y="5384902"/>
            <a:ext cx="10698480" cy="833018"/>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One wordmark anchors center; Agentic Recon and PBC appear as two capabilities INSIDE it (not two separate products). Color shift into Guidehouse brand palette.</a:t>
            </a:r>
            <a:endParaRPr lang="en-US" sz="1150" dirty="0"/>
          </a:p>
        </p:txBody>
      </p:sp>
      <p:sp>
        <p:nvSpPr>
          <p:cNvPr id="21" name="Text 19"/>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2" name="Text 20"/>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5</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14s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1:01 - 1:15</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Bridge — the product (one integrated solution)</a:t>
            </a:r>
            <a:endParaRPr lang="en-US" sz="1100" dirty="0"/>
          </a:p>
        </p:txBody>
      </p:sp>
      <p:sp>
        <p:nvSpPr>
          <p:cNvPr id="7" name="Shape 5"/>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RE-CAPTURE</a:t>
            </a:r>
            <a:endParaRPr lang="en-US" sz="850" dirty="0"/>
          </a:p>
        </p:txBody>
      </p:sp>
      <p:sp>
        <p:nvSpPr>
          <p:cNvPr id="9" name="Shape 7"/>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10" name="Text 8"/>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1" name="Text 9"/>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It runs the most painful parts of audit prep as one connected workflow: data is continuously reconciled, so the moment an auditor's request lands, the supporting record is already defensible and ready to hand over.</a:t>
            </a:r>
            <a:endParaRPr lang="en-US" sz="1150" dirty="0"/>
          </a:p>
        </p:txBody>
      </p:sp>
      <p:sp>
        <p:nvSpPr>
          <p:cNvPr id="12" name="Shape 10"/>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3" name="Text 11"/>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4" name="Text 12"/>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One platform · one audit-ready pipeline</a:t>
            </a:r>
            <a:endParaRPr lang="en-US" sz="1150" dirty="0"/>
          </a:p>
        </p:txBody>
      </p:sp>
      <p:sp>
        <p:nvSpPr>
          <p:cNvPr id="15" name="Shape 13"/>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6" name="Text 14"/>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7" name="Text 15"/>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Architecture diagram: a single product boundary; reconciled data flows left-to-right into a packaged 'Audit-Ready Output' delivered to an auditor. Emphasize the enclosing product, not two boxes.</a:t>
            </a:r>
            <a:endParaRPr lang="en-US" sz="1150" dirty="0"/>
          </a:p>
        </p:txBody>
      </p:sp>
      <p:sp>
        <p:nvSpPr>
          <p:cNvPr id="18" name="Text 16"/>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9" name="Text 17"/>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6</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14s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1:15 - 1:29</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First, Agentic Reconciliation. Reconciliation is where most audit programs lose time — matching records across systems that were never built to talk, and that lack the controls to survive an audit.</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Agentic Recon | Reconciliation, on autopilot</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Title card; subtitle: 'Cross-system reconciliation handled by agents.'</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7</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13s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1:29 - 1:42</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We point Agentic Recon at two or more source datasets, and the agents match records, surface mismatches, and explains why.</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DEMO — Reconciling source data</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Screen recording: two datasets load into the workspace; reconciliation job kicks off; animated progress.</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8</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13s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1:42 - 1:55</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Every mismatch comes with the agent's rationale, so your team reviews exceptions — not entire ledgers.</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Exceptions · Rationale · Review queue</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Screen recording: reconciliation report appears; mismatches in amber; expandable 'why' card opens on one row.</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9</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1:55 - 2:07</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The result is a clean, reconciled record set — defensible source data that's ready the moment an auditor asks for it.</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Audit-ready reconciliation output</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Final report card with download/share affordances; brief 'exported' toast. This reconciled record feeds directly into the next step.</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10</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2:07 - 2:19</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Next, the PBC Request Agent — what turns that reconciled data into an auditor-ready package. Auditors and program staff submit a request, and the agent gathers, assembles, and packages the supporting record.</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PBC | The Request Agent</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Title card with PBC logomark; subtitle: 'Agentic record requests, packaged for the auditor.'</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11</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2:19 - 2:31</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Here's the PBC Request Agent in action. An operator submits a request for a supporting record.</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DEMO — Submitting a request</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Screen recording: PBC home -&gt; operator types request -&gt; submits. Cursor highlight, soft click sfx.</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12</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16s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2:31 - 2:47</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The agent reasons across source systems, retrieves the reconciled artifacts, and assembles a complete response — with traceable provenance on every line.</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Agent reasoning · Source provenance · Auditor-ready package</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Screen recording: reasoning panel animates; retrieved sources surface as cards; assembled package renders. Chip: 'Every record traceable.'</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13</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18s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2:47 - 3:05</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2 — Accelerating the Mission (+ SFA)</a:t>
            </a:r>
            <a:endParaRPr lang="en-US" sz="1100" dirty="0"/>
          </a:p>
        </p:txBody>
      </p:sp>
      <p:sp>
        <p:nvSpPr>
          <p:cNvPr id="7" name="Shape 5"/>
          <p:cNvSpPr/>
          <p:nvPr/>
        </p:nvSpPr>
        <p:spPr>
          <a:xfrm>
            <a:off x="8787384"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8787384"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RE-CAPTURE</a:t>
            </a:r>
            <a:endParaRPr lang="en-US" sz="850" dirty="0"/>
          </a:p>
        </p:txBody>
      </p:sp>
      <p:sp>
        <p:nvSpPr>
          <p:cNvPr id="9" name="Shape 7"/>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10" name="Text 8"/>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RE-RECORD VO</a:t>
            </a:r>
            <a:endParaRPr lang="en-US" sz="850" dirty="0"/>
          </a:p>
        </p:txBody>
      </p:sp>
      <p:sp>
        <p:nvSpPr>
          <p:cNvPr id="11" name="Shape 9"/>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2" name="Text 10"/>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3" name="Text 11"/>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Re-timed 16s to 18s. Narration now OPENS on "accelerating the mission" (40% of the rubric). New on-screen chip on the package screen.</a:t>
            </a:r>
            <a:endParaRPr lang="en-US" sz="1100" dirty="0"/>
          </a:p>
        </p:txBody>
      </p:sp>
      <p:sp>
        <p:nvSpPr>
          <p:cNvPr id="14" name="Shape 12"/>
          <p:cNvSpPr/>
          <p:nvPr/>
        </p:nvSpPr>
        <p:spPr>
          <a:xfrm>
            <a:off x="457200" y="2414016"/>
            <a:ext cx="11201400" cy="1376538"/>
          </a:xfrm>
          <a:prstGeom prst="roundRect">
            <a:avLst>
              <a:gd name="adj" fmla="val 5314"/>
            </a:avLst>
          </a:prstGeom>
          <a:solidFill>
            <a:srgbClr val="F1F5F3"/>
          </a:solidFill>
          <a:ln w="12700">
            <a:solidFill>
              <a:srgbClr val="D8DEDB"/>
            </a:solidFill>
            <a:prstDash val="solid"/>
          </a:ln>
        </p:spPr>
      </p:sp>
      <p:sp>
        <p:nvSpPr>
          <p:cNvPr id="15" name="Text 13"/>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6" name="Text 14"/>
          <p:cNvSpPr/>
          <p:nvPr/>
        </p:nvSpPr>
        <p:spPr>
          <a:xfrm>
            <a:off x="713232" y="2724912"/>
            <a:ext cx="10698480" cy="974202"/>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This is what accelerating the mission looks like. A records request that took about three days of back-and-forth is delivered to the auditor in minutes — defensible, repeatable, and ready for the audit file. The analyst's week goes back to analysis instead of document hunts.</a:t>
            </a:r>
            <a:endParaRPr lang="en-US" sz="1150" dirty="0"/>
          </a:p>
        </p:txBody>
      </p:sp>
      <p:sp>
        <p:nvSpPr>
          <p:cNvPr id="17" name="Shape 15"/>
          <p:cNvSpPr/>
          <p:nvPr/>
        </p:nvSpPr>
        <p:spPr>
          <a:xfrm>
            <a:off x="457200" y="3973434"/>
            <a:ext cx="11201400" cy="917692"/>
          </a:xfrm>
          <a:prstGeom prst="roundRect">
            <a:avLst>
              <a:gd name="adj" fmla="val 7971"/>
            </a:avLst>
          </a:prstGeom>
          <a:solidFill>
            <a:srgbClr val="FFFFFF"/>
          </a:solidFill>
          <a:ln w="12700">
            <a:solidFill>
              <a:srgbClr val="D8DEDB"/>
            </a:solidFill>
            <a:prstDash val="solid"/>
          </a:ln>
        </p:spPr>
      </p:sp>
      <p:sp>
        <p:nvSpPr>
          <p:cNvPr id="18" name="Text 16"/>
          <p:cNvSpPr/>
          <p:nvPr/>
        </p:nvSpPr>
        <p:spPr>
          <a:xfrm>
            <a:off x="713232" y="4055730"/>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9" name="Text 17"/>
          <p:cNvSpPr/>
          <p:nvPr/>
        </p:nvSpPr>
        <p:spPr>
          <a:xfrm>
            <a:off x="713232" y="4284330"/>
            <a:ext cx="10698480" cy="51535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ACCELERATING THE MISSION   |   [Before: ~3 days] -&gt; [With FM of the Future: minutes]   |   Strategic Focus Area: Streamlining Business Processes</a:t>
            </a:r>
            <a:endParaRPr lang="en-US" sz="1150" dirty="0"/>
          </a:p>
        </p:txBody>
      </p:sp>
      <p:sp>
        <p:nvSpPr>
          <p:cNvPr id="20" name="Shape 18"/>
          <p:cNvSpPr/>
          <p:nvPr/>
        </p:nvSpPr>
        <p:spPr>
          <a:xfrm>
            <a:off x="457200" y="5074006"/>
            <a:ext cx="11201400" cy="1235354"/>
          </a:xfrm>
          <a:prstGeom prst="roundRect">
            <a:avLst>
              <a:gd name="adj" fmla="val 5922"/>
            </a:avLst>
          </a:prstGeom>
          <a:solidFill>
            <a:srgbClr val="FFFFFF"/>
          </a:solidFill>
          <a:ln w="12700">
            <a:solidFill>
              <a:srgbClr val="D8DEDB"/>
            </a:solidFill>
            <a:prstDash val="solid"/>
          </a:ln>
        </p:spPr>
      </p:sp>
      <p:sp>
        <p:nvSpPr>
          <p:cNvPr id="21" name="Text 19"/>
          <p:cNvSpPr/>
          <p:nvPr/>
        </p:nvSpPr>
        <p:spPr>
          <a:xfrm>
            <a:off x="713232" y="515630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2" name="Text 20"/>
          <p:cNvSpPr/>
          <p:nvPr/>
        </p:nvSpPr>
        <p:spPr>
          <a:xfrm>
            <a:off x="713232" y="5384902"/>
            <a:ext cx="10698480" cy="833018"/>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Side-by-side clock graphic with CONFIRMED, CITED numbers (show the source on screen — Element 2 requires properly cited data). On-screen chip reads 'Accelerating the mission'. End on the auditor receiving the package.</a:t>
            </a:r>
            <a:endParaRPr lang="en-US" sz="1150" dirty="0"/>
          </a:p>
        </p:txBody>
      </p:sp>
      <p:sp>
        <p:nvSpPr>
          <p:cNvPr id="23" name="Text 21"/>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4"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14</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3:05 - 3:15</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Bridge — one product, one pipeline</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That's the point: one product, one pipeline. The same record moves from reconciliation through packaging to a defensible, auditor-ready output — without ever leaving Financial Management of the Future.</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One product. One pipeline.</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End-to-end flow inside a single product frame: one record token travels reconcile -&gt; package -&gt; 'Audit-Ready' outbox to an auditor. The product boundary stays on screen the whole time (reinforces single-solution).</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15</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16s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3:15 - 3:31</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3 — Advancing the State of the Art (customer evidence)</a:t>
            </a:r>
            <a:endParaRPr lang="en-US" sz="1100" dirty="0"/>
          </a:p>
        </p:txBody>
      </p:sp>
      <p:sp>
        <p:nvSpPr>
          <p:cNvPr id="7" name="Shape 5"/>
          <p:cNvSpPr/>
          <p:nvPr/>
        </p:nvSpPr>
        <p:spPr>
          <a:xfrm>
            <a:off x="8787384"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8787384"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RE-CAPTURE</a:t>
            </a:r>
            <a:endParaRPr lang="en-US" sz="850" dirty="0"/>
          </a:p>
        </p:txBody>
      </p:sp>
      <p:sp>
        <p:nvSpPr>
          <p:cNvPr id="9" name="Shape 7"/>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10" name="Text 8"/>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RE-RECORD VO</a:t>
            </a:r>
            <a:endParaRPr lang="en-US" sz="850" dirty="0"/>
          </a:p>
        </p:txBody>
      </p:sp>
      <p:sp>
        <p:nvSpPr>
          <p:cNvPr id="11" name="Shape 9"/>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2" name="Text 10"/>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3" name="Text 11"/>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OSW Comptroller removed from the narration and the on-screen client list. Now names the Army and ATC only.</a:t>
            </a:r>
            <a:endParaRPr lang="en-US" sz="1100" dirty="0"/>
          </a:p>
        </p:txBody>
      </p:sp>
      <p:sp>
        <p:nvSpPr>
          <p:cNvPr id="14" name="Shape 12"/>
          <p:cNvSpPr/>
          <p:nvPr/>
        </p:nvSpPr>
        <p:spPr>
          <a:xfrm>
            <a:off x="457200" y="2414016"/>
            <a:ext cx="11201400" cy="1376538"/>
          </a:xfrm>
          <a:prstGeom prst="roundRect">
            <a:avLst>
              <a:gd name="adj" fmla="val 5314"/>
            </a:avLst>
          </a:prstGeom>
          <a:solidFill>
            <a:srgbClr val="F1F5F3"/>
          </a:solidFill>
          <a:ln w="12700">
            <a:solidFill>
              <a:srgbClr val="D8DEDB"/>
            </a:solidFill>
            <a:prstDash val="solid"/>
          </a:ln>
        </p:spPr>
      </p:sp>
      <p:sp>
        <p:nvSpPr>
          <p:cNvPr id="15" name="Text 13"/>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6" name="Text 14"/>
          <p:cNvSpPr/>
          <p:nvPr/>
        </p:nvSpPr>
        <p:spPr>
          <a:xfrm>
            <a:off x="713232" y="2724912"/>
            <a:ext cx="10698480" cy="974202"/>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And this isn't hypothetical. Financial Management of the Future is in production today across federal missions — at the Department of the Army and Army Transportation Command — already delivering audit-ready results on real financial data.</a:t>
            </a:r>
            <a:endParaRPr lang="en-US" sz="1150" dirty="0"/>
          </a:p>
        </p:txBody>
      </p:sp>
      <p:sp>
        <p:nvSpPr>
          <p:cNvPr id="17" name="Shape 15"/>
          <p:cNvSpPr/>
          <p:nvPr/>
        </p:nvSpPr>
        <p:spPr>
          <a:xfrm>
            <a:off x="457200" y="3973434"/>
            <a:ext cx="11201400" cy="917692"/>
          </a:xfrm>
          <a:prstGeom prst="roundRect">
            <a:avLst>
              <a:gd name="adj" fmla="val 7971"/>
            </a:avLst>
          </a:prstGeom>
          <a:solidFill>
            <a:srgbClr val="FFFFFF"/>
          </a:solidFill>
          <a:ln w="12700">
            <a:solidFill>
              <a:srgbClr val="D8DEDB"/>
            </a:solidFill>
            <a:prstDash val="solid"/>
          </a:ln>
        </p:spPr>
      </p:sp>
      <p:sp>
        <p:nvSpPr>
          <p:cNvPr id="18" name="Text 16"/>
          <p:cNvSpPr/>
          <p:nvPr/>
        </p:nvSpPr>
        <p:spPr>
          <a:xfrm>
            <a:off x="713232" y="4055730"/>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9" name="Text 17"/>
          <p:cNvSpPr/>
          <p:nvPr/>
        </p:nvSpPr>
        <p:spPr>
          <a:xfrm>
            <a:off x="713232" y="4284330"/>
            <a:ext cx="10698480" cy="51535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In production today across federal missions: Dept. of the Army · Army Transportation Command</a:t>
            </a:r>
            <a:endParaRPr lang="en-US" sz="1150" dirty="0"/>
          </a:p>
        </p:txBody>
      </p:sp>
      <p:sp>
        <p:nvSpPr>
          <p:cNvPr id="20" name="Shape 18"/>
          <p:cNvSpPr/>
          <p:nvPr/>
        </p:nvSpPr>
        <p:spPr>
          <a:xfrm>
            <a:off x="457200" y="5074006"/>
            <a:ext cx="11201400" cy="1235354"/>
          </a:xfrm>
          <a:prstGeom prst="roundRect">
            <a:avLst>
              <a:gd name="adj" fmla="val 5922"/>
            </a:avLst>
          </a:prstGeom>
          <a:solidFill>
            <a:srgbClr val="FFFFFF"/>
          </a:solidFill>
          <a:ln w="12700">
            <a:solidFill>
              <a:srgbClr val="D8DEDB"/>
            </a:solidFill>
            <a:prstDash val="solid"/>
          </a:ln>
        </p:spPr>
      </p:sp>
      <p:sp>
        <p:nvSpPr>
          <p:cNvPr id="21" name="Text 19"/>
          <p:cNvSpPr/>
          <p:nvPr/>
        </p:nvSpPr>
        <p:spPr>
          <a:xfrm>
            <a:off x="713232" y="515630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2" name="Text 20"/>
          <p:cNvSpPr/>
          <p:nvPr/>
        </p:nvSpPr>
        <p:spPr>
          <a:xfrm>
            <a:off x="713232" y="5384902"/>
            <a:ext cx="10698480" cy="833018"/>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Frame as the PRODUCT adopted across missions (one solution, many customers) — NOT module-A-here / module-B-there. Customer NAMES as text only; no official seals unless cleared (v10 bars restrictive markings other than valid copyright). OSW Comptroller removed at client request (Jul 2026 feedback).</a:t>
            </a:r>
            <a:endParaRPr lang="en-US" sz="1150" dirty="0"/>
          </a:p>
        </p:txBody>
      </p:sp>
      <p:sp>
        <p:nvSpPr>
          <p:cNvPr id="23" name="Text 21"/>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4"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16</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21s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3:31 - 3:52</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3 — Advancing the State of the Art (alternatives)</a:t>
            </a:r>
            <a:endParaRPr lang="en-US" sz="1100" dirty="0"/>
          </a:p>
        </p:txBody>
      </p:sp>
      <p:sp>
        <p:nvSpPr>
          <p:cNvPr id="7" name="Shape 5"/>
          <p:cNvSpPr/>
          <p:nvPr/>
        </p:nvSpPr>
        <p:spPr>
          <a:xfrm>
            <a:off x="8787384"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8787384"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RE-CAPTURE</a:t>
            </a:r>
            <a:endParaRPr lang="en-US" sz="850" dirty="0"/>
          </a:p>
        </p:txBody>
      </p:sp>
      <p:sp>
        <p:nvSpPr>
          <p:cNvPr id="9" name="Shape 7"/>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10" name="Text 8"/>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RE-RECORD VO</a:t>
            </a:r>
            <a:endParaRPr lang="en-US" sz="850" dirty="0"/>
          </a:p>
        </p:txBody>
      </p:sp>
      <p:sp>
        <p:nvSpPr>
          <p:cNvPr id="11" name="Shape 9"/>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2" name="Text 10"/>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3" name="Text 11"/>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Re-timed 18s to 21s. Narration now OPENS on "advances the state of the art" (35% of the rubric). Overview strip re-headed to match.</a:t>
            </a:r>
            <a:endParaRPr lang="en-US" sz="1100" dirty="0"/>
          </a:p>
        </p:txBody>
      </p:sp>
      <p:sp>
        <p:nvSpPr>
          <p:cNvPr id="14" name="Shape 12"/>
          <p:cNvSpPr/>
          <p:nvPr/>
        </p:nvSpPr>
        <p:spPr>
          <a:xfrm>
            <a:off x="457200" y="2414016"/>
            <a:ext cx="11201400" cy="1376538"/>
          </a:xfrm>
          <a:prstGeom prst="roundRect">
            <a:avLst>
              <a:gd name="adj" fmla="val 5314"/>
            </a:avLst>
          </a:prstGeom>
          <a:solidFill>
            <a:srgbClr val="F1F5F3"/>
          </a:solidFill>
          <a:ln w="12700">
            <a:solidFill>
              <a:srgbClr val="D8DEDB"/>
            </a:solidFill>
            <a:prstDash val="solid"/>
          </a:ln>
        </p:spPr>
      </p:sp>
      <p:sp>
        <p:nvSpPr>
          <p:cNvPr id="15" name="Text 13"/>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6" name="Text 14"/>
          <p:cNvSpPr/>
          <p:nvPr/>
        </p:nvSpPr>
        <p:spPr>
          <a:xfrm>
            <a:off x="713232" y="2724912"/>
            <a:ext cx="10698480" cy="974202"/>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It advances the state of the art two ways. Agents reason where rules engines can't, explaining every exception in language a reviewer can defend. And it orchestrates accredited building blocks already in use — Databricks, cloud-native services, agentic orchestration, human-in-the-loop guardrails — cutting manual review an estimated eighty to ninety percent. Not another manual review team.</a:t>
            </a:r>
            <a:endParaRPr lang="en-US" sz="1150" dirty="0"/>
          </a:p>
        </p:txBody>
      </p:sp>
      <p:sp>
        <p:nvSpPr>
          <p:cNvPr id="17" name="Shape 15"/>
          <p:cNvSpPr/>
          <p:nvPr/>
        </p:nvSpPr>
        <p:spPr>
          <a:xfrm>
            <a:off x="457200" y="3973434"/>
            <a:ext cx="11201400" cy="917692"/>
          </a:xfrm>
          <a:prstGeom prst="roundRect">
            <a:avLst>
              <a:gd name="adj" fmla="val 7971"/>
            </a:avLst>
          </a:prstGeom>
          <a:solidFill>
            <a:srgbClr val="FFFFFF"/>
          </a:solidFill>
          <a:ln w="12700">
            <a:solidFill>
              <a:srgbClr val="D8DEDB"/>
            </a:solidFill>
            <a:prstDash val="solid"/>
          </a:ln>
        </p:spPr>
      </p:sp>
      <p:sp>
        <p:nvSpPr>
          <p:cNvPr id="18" name="Text 16"/>
          <p:cNvSpPr/>
          <p:nvPr/>
        </p:nvSpPr>
        <p:spPr>
          <a:xfrm>
            <a:off x="713232" y="4055730"/>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9" name="Text 17"/>
          <p:cNvSpPr/>
          <p:nvPr/>
        </p:nvSpPr>
        <p:spPr>
          <a:xfrm>
            <a:off x="713232" y="4284330"/>
            <a:ext cx="10698480" cy="51535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ADVANCING THE STATE OF THE ART   |   Databricks · Cloud-Native · Agentic Orchestration · HITL Guardrails   |   ~80-90% less manual review (illustrative)</a:t>
            </a:r>
            <a:endParaRPr lang="en-US" sz="1150" dirty="0"/>
          </a:p>
        </p:txBody>
      </p:sp>
      <p:sp>
        <p:nvSpPr>
          <p:cNvPr id="20" name="Shape 18"/>
          <p:cNvSpPr/>
          <p:nvPr/>
        </p:nvSpPr>
        <p:spPr>
          <a:xfrm>
            <a:off x="457200" y="5074006"/>
            <a:ext cx="11201400" cy="1235354"/>
          </a:xfrm>
          <a:prstGeom prst="roundRect">
            <a:avLst>
              <a:gd name="adj" fmla="val 5922"/>
            </a:avLst>
          </a:prstGeom>
          <a:solidFill>
            <a:srgbClr val="FFFFFF"/>
          </a:solidFill>
          <a:ln w="12700">
            <a:solidFill>
              <a:srgbClr val="D8DEDB"/>
            </a:solidFill>
            <a:prstDash val="solid"/>
          </a:ln>
        </p:spPr>
      </p:sp>
      <p:sp>
        <p:nvSpPr>
          <p:cNvPr id="21" name="Text 19"/>
          <p:cNvSpPr/>
          <p:nvPr/>
        </p:nvSpPr>
        <p:spPr>
          <a:xfrm>
            <a:off x="713232" y="515630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2" name="Text 20"/>
          <p:cNvSpPr/>
          <p:nvPr/>
        </p:nvSpPr>
        <p:spPr>
          <a:xfrm>
            <a:off x="713232" y="5384902"/>
            <a:ext cx="10698480" cy="833018"/>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On-screen eyebrow reads 'Advancing the state of the art'. Tech-stack ribbon scrolls horizontally (cleared vendor logos only). Contrast motif: brittle rules-engine / manual stack dissolves into the agentic product. Note key dependencies + how risk is managed (Element 2 ask).</a:t>
            </a:r>
            <a:endParaRPr lang="en-US" sz="1150" dirty="0"/>
          </a:p>
        </p:txBody>
      </p:sp>
      <p:sp>
        <p:nvSpPr>
          <p:cNvPr id="23" name="Text 21"/>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4"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17</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18s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3:52 - 4:10</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4 — Business Model (+ TRL)</a:t>
            </a:r>
            <a:endParaRPr lang="en-US" sz="1100" dirty="0"/>
          </a:p>
        </p:txBody>
      </p:sp>
      <p:sp>
        <p:nvSpPr>
          <p:cNvPr id="7" name="Shape 5"/>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RE-RECORD VO</a:t>
            </a:r>
            <a:endParaRPr lang="en-US" sz="850" dirty="0"/>
          </a:p>
        </p:txBody>
      </p:sp>
      <p:sp>
        <p:nvSpPr>
          <p:cNvPr id="9" name="Shape 7"/>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0" name="Text 8"/>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1" name="Text 9"/>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TRL locked at 5-6. "Subscription-based" wording removed. VO note added: say SBIR as a word ("SY-ber").</a:t>
            </a:r>
            <a:endParaRPr lang="en-US" sz="1100" dirty="0"/>
          </a:p>
        </p:txBody>
      </p:sp>
      <p:sp>
        <p:nvSpPr>
          <p:cNvPr id="12" name="Shape 10"/>
          <p:cNvSpPr/>
          <p:nvPr/>
        </p:nvSpPr>
        <p:spPr>
          <a:xfrm>
            <a:off x="457200" y="2414016"/>
            <a:ext cx="11201400" cy="1098377"/>
          </a:xfrm>
          <a:prstGeom prst="roundRect">
            <a:avLst>
              <a:gd name="adj" fmla="val 6660"/>
            </a:avLst>
          </a:prstGeom>
          <a:solidFill>
            <a:srgbClr val="F1F5F3"/>
          </a:solidFill>
          <a:ln w="12700">
            <a:solidFill>
              <a:srgbClr val="D8DEDB"/>
            </a:solidFill>
            <a:prstDash val="solid"/>
          </a:ln>
        </p:spPr>
      </p:sp>
      <p:sp>
        <p:nvSpPr>
          <p:cNvPr id="13" name="Text 11"/>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4" name="Text 12"/>
          <p:cNvSpPr/>
          <p:nvPr/>
        </p:nvSpPr>
        <p:spPr>
          <a:xfrm>
            <a:off x="713232" y="2724912"/>
            <a:ext cx="10698480" cy="696041"/>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The business model is built for fast adoption: a mature, deployable product at Technology Readiness Level five to six, validated in a relevant environment. We acquired the AFRL SBIR topic, and as successor-in-interest Guidehouse is eligible for SBIR Phase Three award — sole-source, in weeks, not years.</a:t>
            </a:r>
            <a:endParaRPr lang="en-US" sz="1150" dirty="0"/>
          </a:p>
        </p:txBody>
      </p:sp>
      <p:sp>
        <p:nvSpPr>
          <p:cNvPr id="15" name="Shape 13"/>
          <p:cNvSpPr/>
          <p:nvPr/>
        </p:nvSpPr>
        <p:spPr>
          <a:xfrm>
            <a:off x="457200" y="3695273"/>
            <a:ext cx="11201400" cy="732252"/>
          </a:xfrm>
          <a:prstGeom prst="roundRect">
            <a:avLst>
              <a:gd name="adj" fmla="val 9990"/>
            </a:avLst>
          </a:prstGeom>
          <a:solidFill>
            <a:srgbClr val="FFFFFF"/>
          </a:solidFill>
          <a:ln w="12700">
            <a:solidFill>
              <a:srgbClr val="D8DEDB"/>
            </a:solidFill>
            <a:prstDash val="solid"/>
          </a:ln>
        </p:spPr>
      </p:sp>
      <p:sp>
        <p:nvSpPr>
          <p:cNvPr id="16" name="Text 14"/>
          <p:cNvSpPr/>
          <p:nvPr/>
        </p:nvSpPr>
        <p:spPr>
          <a:xfrm>
            <a:off x="713232" y="3777569"/>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7" name="Text 15"/>
          <p:cNvSpPr/>
          <p:nvPr/>
        </p:nvSpPr>
        <p:spPr>
          <a:xfrm>
            <a:off x="713232" y="4006169"/>
            <a:ext cx="10698480" cy="32991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Mature technology, ready to acquire · TRL 5-6 · SBIR Phase III — sole-source eligible</a:t>
            </a:r>
            <a:endParaRPr lang="en-US" sz="1150" dirty="0"/>
          </a:p>
        </p:txBody>
      </p:sp>
      <p:sp>
        <p:nvSpPr>
          <p:cNvPr id="18" name="Shape 16"/>
          <p:cNvSpPr/>
          <p:nvPr/>
        </p:nvSpPr>
        <p:spPr>
          <a:xfrm>
            <a:off x="457200" y="4610405"/>
            <a:ext cx="11201400" cy="985723"/>
          </a:xfrm>
          <a:prstGeom prst="roundRect">
            <a:avLst>
              <a:gd name="adj" fmla="val 7421"/>
            </a:avLst>
          </a:prstGeom>
          <a:solidFill>
            <a:srgbClr val="FFFFFF"/>
          </a:solidFill>
          <a:ln w="12700">
            <a:solidFill>
              <a:srgbClr val="D8DEDB"/>
            </a:solidFill>
            <a:prstDash val="solid"/>
          </a:ln>
        </p:spPr>
      </p:sp>
      <p:sp>
        <p:nvSpPr>
          <p:cNvPr id="19" name="Text 17"/>
          <p:cNvSpPr/>
          <p:nvPr/>
        </p:nvSpPr>
        <p:spPr>
          <a:xfrm>
            <a:off x="713232" y="4692701"/>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0" name="Text 18"/>
          <p:cNvSpPr/>
          <p:nvPr/>
        </p:nvSpPr>
        <p:spPr>
          <a:xfrm>
            <a:off x="713232" y="4921301"/>
            <a:ext cx="10698480" cy="583387"/>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Timeline/badge motif: acquired SBIR topic -&gt; Phase III badge -&gt; 'sole-source eligible' chip. Three-icon row (stopwatch · shield · scale). Business model must align with the stated TRL.</a:t>
            </a:r>
            <a:endParaRPr lang="en-US" sz="1150" dirty="0"/>
          </a:p>
        </p:txBody>
      </p:sp>
      <p:sp>
        <p:nvSpPr>
          <p:cNvPr id="21" name="Shape 19"/>
          <p:cNvSpPr/>
          <p:nvPr/>
        </p:nvSpPr>
        <p:spPr>
          <a:xfrm>
            <a:off x="457200" y="5742432"/>
            <a:ext cx="11201400" cy="603504"/>
          </a:xfrm>
          <a:prstGeom prst="roundRect">
            <a:avLst>
              <a:gd name="adj" fmla="val 9091"/>
            </a:avLst>
          </a:prstGeom>
          <a:solidFill>
            <a:srgbClr val="1B1B1B"/>
          </a:solidFill>
          <a:ln/>
        </p:spPr>
      </p:sp>
      <p:sp>
        <p:nvSpPr>
          <p:cNvPr id="22" name="Text 20"/>
          <p:cNvSpPr/>
          <p:nvPr/>
        </p:nvSpPr>
        <p:spPr>
          <a:xfrm>
            <a:off x="713232" y="5797296"/>
            <a:ext cx="10698480" cy="493776"/>
          </a:xfrm>
          <a:prstGeom prst="rect">
            <a:avLst/>
          </a:prstGeom>
          <a:noFill/>
          <a:ln/>
        </p:spPr>
        <p:txBody>
          <a:bodyPr wrap="square" lIns="0" tIns="0" rIns="0" bIns="0" rtlCol="0" anchor="ctr"/>
          <a:lstStyle/>
          <a:p>
            <a:pPr indent="0" marL="0">
              <a:lnSpc>
                <a:spcPts val="1150"/>
              </a:lnSpc>
              <a:buNone/>
            </a:pPr>
            <a:r>
              <a:rPr lang="en-US" sz="900" b="1" dirty="0">
                <a:solidFill>
                  <a:srgbClr val="93D500"/>
                </a:solidFill>
                <a:latin typeface="Calibri" pitchFamily="34" charset="0"/>
                <a:ea typeface="Calibri" pitchFamily="34" charset="-122"/>
                <a:cs typeface="Calibri" pitchFamily="34" charset="-120"/>
              </a:rPr>
              <a:t>VO NOTE   </a:t>
            </a:r>
            <a:pPr indent="0" marL="0">
              <a:lnSpc>
                <a:spcPts val="1150"/>
              </a:lnSpc>
              <a:buNone/>
            </a:pPr>
            <a:r>
              <a:rPr lang="en-US" sz="950" dirty="0">
                <a:solidFill>
                  <a:srgbClr val="E6ECE9"/>
                </a:solidFill>
                <a:latin typeface="Calibri" pitchFamily="34" charset="0"/>
                <a:ea typeface="Calibri" pitchFamily="34" charset="-122"/>
                <a:cs typeface="Calibri" pitchFamily="34" charset="-120"/>
              </a:rPr>
              <a:t>PRONUNCIATION: say SBIR as a word — "SY-ber" (rhymes with fiber), NOT spelled out S-B-I-R. Occurs twice in this line. Say "Phase Three", not "Phase I-I-I".</a:t>
            </a:r>
            <a:endParaRPr lang="en-US" sz="900" dirty="0"/>
          </a:p>
        </p:txBody>
      </p:sp>
      <p:sp>
        <p:nvSpPr>
          <p:cNvPr id="23" name="Text 21"/>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4"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18</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4:10 - 4:20</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Element 4 — Business Model (call to action)</a:t>
            </a:r>
            <a:endParaRPr lang="en-US" sz="1100" dirty="0"/>
          </a:p>
        </p:txBody>
      </p:sp>
      <p:sp>
        <p:nvSpPr>
          <p:cNvPr id="7" name="Shape 5"/>
          <p:cNvSpPr/>
          <p:nvPr/>
        </p:nvSpPr>
        <p:spPr>
          <a:xfrm>
            <a:off x="8787384"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8787384"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RE-CAPTURE</a:t>
            </a:r>
            <a:endParaRPr lang="en-US" sz="850" dirty="0"/>
          </a:p>
        </p:txBody>
      </p:sp>
      <p:sp>
        <p:nvSpPr>
          <p:cNvPr id="9" name="Shape 7"/>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10" name="Text 8"/>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RE-RECORD VO</a:t>
            </a:r>
            <a:endParaRPr lang="en-US" sz="850" dirty="0"/>
          </a:p>
        </p:txBody>
      </p:sp>
      <p:sp>
        <p:nvSpPr>
          <p:cNvPr id="11" name="Shape 9"/>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2" name="Text 10"/>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3" name="Text 11"/>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Re-timed 15s to 10s. All pricing and sales-model language removed; now a pure call to action. SEE OPEN DECISION B.</a:t>
            </a:r>
            <a:endParaRPr lang="en-US" sz="1100" dirty="0"/>
          </a:p>
        </p:txBody>
      </p:sp>
      <p:sp>
        <p:nvSpPr>
          <p:cNvPr id="14" name="Shape 12"/>
          <p:cNvSpPr/>
          <p:nvPr/>
        </p:nvSpPr>
        <p:spPr>
          <a:xfrm>
            <a:off x="457200" y="2414016"/>
            <a:ext cx="11201400" cy="1376538"/>
          </a:xfrm>
          <a:prstGeom prst="roundRect">
            <a:avLst>
              <a:gd name="adj" fmla="val 5314"/>
            </a:avLst>
          </a:prstGeom>
          <a:solidFill>
            <a:srgbClr val="F1F5F3"/>
          </a:solidFill>
          <a:ln w="12700">
            <a:solidFill>
              <a:srgbClr val="D8DEDB"/>
            </a:solidFill>
            <a:prstDash val="solid"/>
          </a:ln>
        </p:spPr>
      </p:sp>
      <p:sp>
        <p:nvSpPr>
          <p:cNvPr id="15" name="Text 13"/>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6" name="Text 14"/>
          <p:cNvSpPr/>
          <p:nvPr/>
        </p:nvSpPr>
        <p:spPr>
          <a:xfrm>
            <a:off x="713232" y="2724912"/>
            <a:ext cx="10698480" cy="974202"/>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Contact us to learn more — and see what Guidehouse and Financial Management of the Future can do for your mission, on your data.</a:t>
            </a:r>
            <a:endParaRPr lang="en-US" sz="1150" dirty="0"/>
          </a:p>
        </p:txBody>
      </p:sp>
      <p:sp>
        <p:nvSpPr>
          <p:cNvPr id="17" name="Shape 15"/>
          <p:cNvSpPr/>
          <p:nvPr/>
        </p:nvSpPr>
        <p:spPr>
          <a:xfrm>
            <a:off x="457200" y="3973434"/>
            <a:ext cx="11201400" cy="917692"/>
          </a:xfrm>
          <a:prstGeom prst="roundRect">
            <a:avLst>
              <a:gd name="adj" fmla="val 7971"/>
            </a:avLst>
          </a:prstGeom>
          <a:solidFill>
            <a:srgbClr val="FFFFFF"/>
          </a:solidFill>
          <a:ln w="12700">
            <a:solidFill>
              <a:srgbClr val="D8DEDB"/>
            </a:solidFill>
            <a:prstDash val="solid"/>
          </a:ln>
        </p:spPr>
      </p:sp>
      <p:sp>
        <p:nvSpPr>
          <p:cNvPr id="18" name="Text 16"/>
          <p:cNvSpPr/>
          <p:nvPr/>
        </p:nvSpPr>
        <p:spPr>
          <a:xfrm>
            <a:off x="713232" y="4055730"/>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9" name="Text 17"/>
          <p:cNvSpPr/>
          <p:nvPr/>
        </p:nvSpPr>
        <p:spPr>
          <a:xfrm>
            <a:off x="713232" y="4284330"/>
            <a:ext cx="10698480" cy="51535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Contact us to learn more · See what FM of the Future can do for your audit</a:t>
            </a:r>
            <a:endParaRPr lang="en-US" sz="1150" dirty="0"/>
          </a:p>
        </p:txBody>
      </p:sp>
      <p:sp>
        <p:nvSpPr>
          <p:cNvPr id="20" name="Shape 18"/>
          <p:cNvSpPr/>
          <p:nvPr/>
        </p:nvSpPr>
        <p:spPr>
          <a:xfrm>
            <a:off x="457200" y="5074006"/>
            <a:ext cx="11201400" cy="1235354"/>
          </a:xfrm>
          <a:prstGeom prst="roundRect">
            <a:avLst>
              <a:gd name="adj" fmla="val 5922"/>
            </a:avLst>
          </a:prstGeom>
          <a:solidFill>
            <a:srgbClr val="FFFFFF"/>
          </a:solidFill>
          <a:ln w="12700">
            <a:solidFill>
              <a:srgbClr val="D8DEDB"/>
            </a:solidFill>
            <a:prstDash val="solid"/>
          </a:ln>
        </p:spPr>
      </p:sp>
      <p:sp>
        <p:nvSpPr>
          <p:cNvPr id="21" name="Text 19"/>
          <p:cNvSpPr/>
          <p:nvPr/>
        </p:nvSpPr>
        <p:spPr>
          <a:xfrm>
            <a:off x="713232" y="515630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2" name="Text 20"/>
          <p:cNvSpPr/>
          <p:nvPr/>
        </p:nvSpPr>
        <p:spPr>
          <a:xfrm>
            <a:off x="713232" y="5384902"/>
            <a:ext cx="10698480" cy="833018"/>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Clean contact card. NO pricing, rates, or sales-model language on screen (v10 bars non-public pricing; 'sold as a subscription' framing removed per Jul 2026 client feedback).</a:t>
            </a:r>
            <a:endParaRPr lang="en-US" sz="1150" dirty="0"/>
          </a:p>
        </p:txBody>
      </p:sp>
      <p:sp>
        <p:nvSpPr>
          <p:cNvPr id="23" name="Text 21"/>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4"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31863E"/>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93D500"/>
                </a:solidFill>
                <a:latin typeface="Calibri" pitchFamily="34" charset="0"/>
                <a:ea typeface="Calibri" pitchFamily="34" charset="-122"/>
                <a:cs typeface="Calibri" pitchFamily="34" charset="-120"/>
              </a:rPr>
              <a:t>SHOT 19</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14s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4:20 - 4:34</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Close / Call to action</a:t>
            </a:r>
            <a:endParaRPr lang="en-US" sz="1100" dirty="0"/>
          </a:p>
        </p:txBody>
      </p:sp>
      <p:sp>
        <p:nvSpPr>
          <p:cNvPr id="7" name="Shape 5"/>
          <p:cNvSpPr/>
          <p:nvPr/>
        </p:nvSpPr>
        <p:spPr>
          <a:xfrm>
            <a:off x="10222992" y="457200"/>
            <a:ext cx="1325880" cy="292608"/>
          </a:xfrm>
          <a:prstGeom prst="roundRect">
            <a:avLst>
              <a:gd name="adj" fmla="val 18750"/>
            </a:avLst>
          </a:prstGeom>
          <a:solidFill>
            <a:srgbClr val="FFF1DC"/>
          </a:solidFill>
          <a:ln w="12700">
            <a:solidFill>
              <a:srgbClr val="B26B00"/>
            </a:solidFill>
            <a:prstDash val="solid"/>
          </a:ln>
        </p:spPr>
      </p:sp>
      <p:sp>
        <p:nvSpPr>
          <p:cNvPr id="8" name="Text 6"/>
          <p:cNvSpPr/>
          <p:nvPr/>
        </p:nvSpPr>
        <p:spPr>
          <a:xfrm>
            <a:off x="10222992" y="457200"/>
            <a:ext cx="1325880" cy="292608"/>
          </a:xfrm>
          <a:prstGeom prst="rect">
            <a:avLst/>
          </a:prstGeom>
          <a:noFill/>
          <a:ln/>
        </p:spPr>
        <p:txBody>
          <a:bodyPr wrap="square" lIns="0" tIns="0" rIns="0" bIns="0" rtlCol="0" anchor="ctr"/>
          <a:lstStyle/>
          <a:p>
            <a:pPr algn="ctr" indent="0" marL="0">
              <a:buNone/>
            </a:pPr>
            <a:r>
              <a:rPr lang="en-US" sz="850" b="1" dirty="0">
                <a:solidFill>
                  <a:srgbClr val="B26B00"/>
                </a:solidFill>
                <a:latin typeface="Calibri" pitchFamily="34" charset="0"/>
                <a:ea typeface="Calibri" pitchFamily="34" charset="-122"/>
                <a:cs typeface="Calibri" pitchFamily="34" charset="-120"/>
              </a:rPr>
              <a:t>RE-RECORD VO</a:t>
            </a:r>
            <a:endParaRPr lang="en-US" sz="850" dirty="0"/>
          </a:p>
        </p:txBody>
      </p:sp>
      <p:sp>
        <p:nvSpPr>
          <p:cNvPr id="9" name="Shape 7"/>
          <p:cNvSpPr/>
          <p:nvPr/>
        </p:nvSpPr>
        <p:spPr>
          <a:xfrm>
            <a:off x="457200" y="1371600"/>
            <a:ext cx="11201400" cy="841248"/>
          </a:xfrm>
          <a:prstGeom prst="roundRect">
            <a:avLst>
              <a:gd name="adj" fmla="val 8696"/>
            </a:avLst>
          </a:prstGeom>
          <a:solidFill>
            <a:srgbClr val="FFF1DC"/>
          </a:solidFill>
          <a:ln w="12700">
            <a:solidFill>
              <a:srgbClr val="B26B00"/>
            </a:solidFill>
            <a:prstDash val="solid"/>
          </a:ln>
        </p:spPr>
      </p:sp>
      <p:sp>
        <p:nvSpPr>
          <p:cNvPr id="10" name="Text 8"/>
          <p:cNvSpPr/>
          <p:nvPr/>
        </p:nvSpPr>
        <p:spPr>
          <a:xfrm>
            <a:off x="713232" y="1463040"/>
            <a:ext cx="2194560" cy="228600"/>
          </a:xfrm>
          <a:prstGeom prst="rect">
            <a:avLst/>
          </a:prstGeom>
          <a:noFill/>
          <a:ln/>
        </p:spPr>
        <p:txBody>
          <a:bodyPr wrap="square" lIns="0" tIns="0" rIns="0" bIns="0" rtlCol="0" anchor="ctr"/>
          <a:lstStyle/>
          <a:p>
            <a:pPr indent="0" marL="0">
              <a:buNone/>
            </a:pPr>
            <a:r>
              <a:rPr lang="en-US" sz="900" b="1" spc="100" kern="0" dirty="0">
                <a:solidFill>
                  <a:srgbClr val="B26B00"/>
                </a:solidFill>
                <a:latin typeface="Calibri" pitchFamily="34" charset="0"/>
                <a:ea typeface="Calibri" pitchFamily="34" charset="-122"/>
                <a:cs typeface="Calibri" pitchFamily="34" charset="-120"/>
              </a:rPr>
              <a:t>CHANGED IN REV 2</a:t>
            </a:r>
            <a:endParaRPr lang="en-US" sz="900" dirty="0"/>
          </a:p>
        </p:txBody>
      </p:sp>
      <p:sp>
        <p:nvSpPr>
          <p:cNvPr id="11" name="Text 9"/>
          <p:cNvSpPr/>
          <p:nvPr/>
        </p:nvSpPr>
        <p:spPr>
          <a:xfrm>
            <a:off x="713232" y="1682496"/>
            <a:ext cx="10698480" cy="457200"/>
          </a:xfrm>
          <a:prstGeom prst="rect">
            <a:avLst/>
          </a:prstGeom>
          <a:noFill/>
          <a:ln/>
        </p:spPr>
        <p:txBody>
          <a:bodyPr wrap="square" lIns="0" tIns="0" rIns="0" bIns="0" rtlCol="0" anchor="ctr"/>
          <a:lstStyle/>
          <a:p>
            <a:pPr indent="0" marL="0">
              <a:lnSpc>
                <a:spcPts val="1400"/>
              </a:lnSpc>
              <a:buNone/>
            </a:pPr>
            <a:r>
              <a:rPr lang="en-US" sz="1100" dirty="0">
                <a:solidFill>
                  <a:srgbClr val="1B1B1B"/>
                </a:solidFill>
                <a:latin typeface="Calibri" pitchFamily="34" charset="0"/>
                <a:ea typeface="Calibri" pitchFamily="34" charset="-122"/>
                <a:cs typeface="Calibri" pitchFamily="34" charset="-120"/>
              </a:rPr>
              <a:t>CORRECTED: "Silver Aisle" does not exist. It is the SBIR/STTR Aisle. POC placeholder made explicit.</a:t>
            </a:r>
            <a:endParaRPr lang="en-US" sz="1100" dirty="0"/>
          </a:p>
        </p:txBody>
      </p:sp>
      <p:sp>
        <p:nvSpPr>
          <p:cNvPr id="12" name="Shape 10"/>
          <p:cNvSpPr/>
          <p:nvPr/>
        </p:nvSpPr>
        <p:spPr>
          <a:xfrm>
            <a:off x="457200" y="2414016"/>
            <a:ext cx="11201400" cy="1098377"/>
          </a:xfrm>
          <a:prstGeom prst="roundRect">
            <a:avLst>
              <a:gd name="adj" fmla="val 6660"/>
            </a:avLst>
          </a:prstGeom>
          <a:solidFill>
            <a:srgbClr val="F1F5F3"/>
          </a:solidFill>
          <a:ln w="12700">
            <a:solidFill>
              <a:srgbClr val="D8DEDB"/>
            </a:solidFill>
            <a:prstDash val="solid"/>
          </a:ln>
        </p:spPr>
      </p:sp>
      <p:sp>
        <p:nvSpPr>
          <p:cNvPr id="13" name="Text 11"/>
          <p:cNvSpPr/>
          <p:nvPr/>
        </p:nvSpPr>
        <p:spPr>
          <a:xfrm>
            <a:off x="713232" y="2496312"/>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14" name="Text 12"/>
          <p:cNvSpPr/>
          <p:nvPr/>
        </p:nvSpPr>
        <p:spPr>
          <a:xfrm>
            <a:off x="713232" y="2724912"/>
            <a:ext cx="10698480" cy="696041"/>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Find Financial Management of the Future on the CDAO Tradewinds Solutions Marketplace, in the SBIR Aisle. Bring your hardest reconciliation and your messiest records — we'll show you what the agents do with them.</a:t>
            </a:r>
            <a:endParaRPr lang="en-US" sz="1150" dirty="0"/>
          </a:p>
        </p:txBody>
      </p:sp>
      <p:sp>
        <p:nvSpPr>
          <p:cNvPr id="15" name="Shape 13"/>
          <p:cNvSpPr/>
          <p:nvPr/>
        </p:nvSpPr>
        <p:spPr>
          <a:xfrm>
            <a:off x="457200" y="3695273"/>
            <a:ext cx="11201400" cy="732252"/>
          </a:xfrm>
          <a:prstGeom prst="roundRect">
            <a:avLst>
              <a:gd name="adj" fmla="val 9990"/>
            </a:avLst>
          </a:prstGeom>
          <a:solidFill>
            <a:srgbClr val="FFFFFF"/>
          </a:solidFill>
          <a:ln w="12700">
            <a:solidFill>
              <a:srgbClr val="D8DEDB"/>
            </a:solidFill>
            <a:prstDash val="solid"/>
          </a:ln>
        </p:spPr>
      </p:sp>
      <p:sp>
        <p:nvSpPr>
          <p:cNvPr id="16" name="Text 14"/>
          <p:cNvSpPr/>
          <p:nvPr/>
        </p:nvSpPr>
        <p:spPr>
          <a:xfrm>
            <a:off x="713232" y="3777569"/>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7" name="Text 15"/>
          <p:cNvSpPr/>
          <p:nvPr/>
        </p:nvSpPr>
        <p:spPr>
          <a:xfrm>
            <a:off x="713232" y="4006169"/>
            <a:ext cx="10698480" cy="329916"/>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Find us on the CDAO Tradewinds Solutions Marketplace · SBIR/STTR Aisle   ·   [POC NAME] · [poc email] · [Innovation Hub link / QR]</a:t>
            </a:r>
            <a:endParaRPr lang="en-US" sz="1150" dirty="0"/>
          </a:p>
        </p:txBody>
      </p:sp>
      <p:sp>
        <p:nvSpPr>
          <p:cNvPr id="18" name="Shape 16"/>
          <p:cNvSpPr/>
          <p:nvPr/>
        </p:nvSpPr>
        <p:spPr>
          <a:xfrm>
            <a:off x="457200" y="4610405"/>
            <a:ext cx="11201400" cy="985723"/>
          </a:xfrm>
          <a:prstGeom prst="roundRect">
            <a:avLst>
              <a:gd name="adj" fmla="val 7421"/>
            </a:avLst>
          </a:prstGeom>
          <a:solidFill>
            <a:srgbClr val="FFFFFF"/>
          </a:solidFill>
          <a:ln w="12700">
            <a:solidFill>
              <a:srgbClr val="D8DEDB"/>
            </a:solidFill>
            <a:prstDash val="solid"/>
          </a:ln>
        </p:spPr>
      </p:sp>
      <p:sp>
        <p:nvSpPr>
          <p:cNvPr id="19" name="Text 17"/>
          <p:cNvSpPr/>
          <p:nvPr/>
        </p:nvSpPr>
        <p:spPr>
          <a:xfrm>
            <a:off x="713232" y="4692701"/>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20" name="Text 18"/>
          <p:cNvSpPr/>
          <p:nvPr/>
        </p:nvSpPr>
        <p:spPr>
          <a:xfrm>
            <a:off x="713232" y="4921301"/>
            <a:ext cx="10698480" cy="583387"/>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CTA card; POC name + email and the Tradewinds Solutions Marketplace / SBIR-STTR Aisle link or QR. Replace the generic poc@guidehouse.com placeholder with the named POC before final render. On-screen text must read SBIR/STTR Aisle — there is no 'Silver Aisle'.</a:t>
            </a:r>
            <a:endParaRPr lang="en-US" sz="1150" dirty="0"/>
          </a:p>
        </p:txBody>
      </p:sp>
      <p:sp>
        <p:nvSpPr>
          <p:cNvPr id="21" name="Shape 19"/>
          <p:cNvSpPr/>
          <p:nvPr/>
        </p:nvSpPr>
        <p:spPr>
          <a:xfrm>
            <a:off x="457200" y="5742432"/>
            <a:ext cx="11201400" cy="603504"/>
          </a:xfrm>
          <a:prstGeom prst="roundRect">
            <a:avLst>
              <a:gd name="adj" fmla="val 9091"/>
            </a:avLst>
          </a:prstGeom>
          <a:solidFill>
            <a:srgbClr val="1B1B1B"/>
          </a:solidFill>
          <a:ln/>
        </p:spPr>
      </p:sp>
      <p:sp>
        <p:nvSpPr>
          <p:cNvPr id="22" name="Text 20"/>
          <p:cNvSpPr/>
          <p:nvPr/>
        </p:nvSpPr>
        <p:spPr>
          <a:xfrm>
            <a:off x="713232" y="5797296"/>
            <a:ext cx="10698480" cy="493776"/>
          </a:xfrm>
          <a:prstGeom prst="rect">
            <a:avLst/>
          </a:prstGeom>
          <a:noFill/>
          <a:ln/>
        </p:spPr>
        <p:txBody>
          <a:bodyPr wrap="square" lIns="0" tIns="0" rIns="0" bIns="0" rtlCol="0" anchor="ctr"/>
          <a:lstStyle/>
          <a:p>
            <a:pPr indent="0" marL="0">
              <a:lnSpc>
                <a:spcPts val="1150"/>
              </a:lnSpc>
              <a:buNone/>
            </a:pPr>
            <a:r>
              <a:rPr lang="en-US" sz="900" b="1" dirty="0">
                <a:solidFill>
                  <a:srgbClr val="93D500"/>
                </a:solidFill>
                <a:latin typeface="Calibri" pitchFamily="34" charset="0"/>
                <a:ea typeface="Calibri" pitchFamily="34" charset="-122"/>
                <a:cs typeface="Calibri" pitchFamily="34" charset="-120"/>
              </a:rPr>
              <a:t>VO NOTE   </a:t>
            </a:r>
            <a:pPr indent="0" marL="0">
              <a:lnSpc>
                <a:spcPts val="1150"/>
              </a:lnSpc>
              <a:buNone/>
            </a:pPr>
            <a:r>
              <a:rPr lang="en-US" sz="950" dirty="0">
                <a:solidFill>
                  <a:srgbClr val="E6ECE9"/>
                </a:solidFill>
                <a:latin typeface="Calibri" pitchFamily="34" charset="0"/>
                <a:ea typeface="Calibri" pitchFamily="34" charset="-122"/>
                <a:cs typeface="Calibri" pitchFamily="34" charset="-120"/>
              </a:rPr>
              <a:t>CORRECTION (Jul 2026): the v1 script said "Silver Aisle" — that aisle does not exist. The correct name is the CDAO Tradewinds Solutions Marketplace SBIR/STTR Aisle (commonly "SBIR Aisle"). PRONUNCIATION: same as Shot 17 — SBIR is said as a word, "SY-ber," so this reads "the SY-ber aisle." Do NOT spell it S-B-I-R.</a:t>
            </a:r>
            <a:endParaRPr lang="en-US" sz="900" dirty="0"/>
          </a:p>
        </p:txBody>
      </p:sp>
      <p:sp>
        <p:nvSpPr>
          <p:cNvPr id="23" name="Text 21"/>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4"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47472"/>
            <a:ext cx="1371600" cy="868680"/>
          </a:xfrm>
          <a:prstGeom prst="roundRect">
            <a:avLst>
              <a:gd name="adj" fmla="val 8421"/>
            </a:avLst>
          </a:prstGeom>
          <a:solidFill>
            <a:srgbClr val="1B1B1B"/>
          </a:solidFill>
          <a:ln/>
        </p:spPr>
      </p:sp>
      <p:sp>
        <p:nvSpPr>
          <p:cNvPr id="3" name="Text 1"/>
          <p:cNvSpPr/>
          <p:nvPr/>
        </p:nvSpPr>
        <p:spPr>
          <a:xfrm>
            <a:off x="457200" y="457200"/>
            <a:ext cx="13716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SHOT 20</a:t>
            </a:r>
            <a:endParaRPr lang="en-US" sz="1100" dirty="0"/>
          </a:p>
        </p:txBody>
      </p:sp>
      <p:sp>
        <p:nvSpPr>
          <p:cNvPr id="4" name="Text 2"/>
          <p:cNvSpPr/>
          <p:nvPr/>
        </p:nvSpPr>
        <p:spPr>
          <a:xfrm>
            <a:off x="457200" y="713232"/>
            <a:ext cx="13716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7s</a:t>
            </a:r>
            <a:endParaRPr lang="en-US" sz="2000" dirty="0"/>
          </a:p>
        </p:txBody>
      </p:sp>
      <p:sp>
        <p:nvSpPr>
          <p:cNvPr id="5" name="Text 3"/>
          <p:cNvSpPr/>
          <p:nvPr/>
        </p:nvSpPr>
        <p:spPr>
          <a:xfrm>
            <a:off x="2011680" y="411480"/>
            <a:ext cx="2743200" cy="320040"/>
          </a:xfrm>
          <a:prstGeom prst="rect">
            <a:avLst/>
          </a:prstGeom>
          <a:noFill/>
          <a:ln/>
        </p:spPr>
        <p:txBody>
          <a:bodyPr wrap="square" lIns="0" tIns="0" rIns="0" bIns="0" rtlCol="0" anchor="ctr"/>
          <a:lstStyle/>
          <a:p>
            <a:pPr indent="0" marL="0">
              <a:buNone/>
            </a:pPr>
            <a:r>
              <a:rPr lang="en-US" sz="1700" b="1" dirty="0">
                <a:solidFill>
                  <a:srgbClr val="1B1B1B"/>
                </a:solidFill>
                <a:latin typeface="Cambria" pitchFamily="34" charset="0"/>
                <a:ea typeface="Cambria" pitchFamily="34" charset="-122"/>
                <a:cs typeface="Cambria" pitchFamily="34" charset="-120"/>
              </a:rPr>
              <a:t>4:34 - 4:41</a:t>
            </a:r>
            <a:endParaRPr lang="en-US" sz="1700" dirty="0"/>
          </a:p>
        </p:txBody>
      </p:sp>
      <p:sp>
        <p:nvSpPr>
          <p:cNvPr id="6" name="Text 4"/>
          <p:cNvSpPr/>
          <p:nvPr/>
        </p:nvSpPr>
        <p:spPr>
          <a:xfrm>
            <a:off x="2011680" y="749808"/>
            <a:ext cx="6766560" cy="411480"/>
          </a:xfrm>
          <a:prstGeom prst="rect">
            <a:avLst/>
          </a:prstGeom>
          <a:noFill/>
          <a:ln/>
        </p:spPr>
        <p:txBody>
          <a:bodyPr wrap="square" lIns="0" tIns="0" rIns="0" bIns="0" rtlCol="0" anchor="ctr"/>
          <a:lstStyle/>
          <a:p>
            <a:pPr indent="0" marL="0">
              <a:lnSpc>
                <a:spcPts val="1300"/>
              </a:lnSpc>
              <a:buNone/>
            </a:pPr>
            <a:r>
              <a:rPr lang="en-US" sz="1100" dirty="0">
                <a:solidFill>
                  <a:srgbClr val="5A6568"/>
                </a:solidFill>
                <a:latin typeface="Calibri" pitchFamily="34" charset="0"/>
                <a:ea typeface="Calibri" pitchFamily="34" charset="-122"/>
                <a:cs typeface="Calibri" pitchFamily="34" charset="-120"/>
              </a:rPr>
              <a:t>Close</a:t>
            </a:r>
            <a:endParaRPr lang="en-US" sz="1100" dirty="0"/>
          </a:p>
        </p:txBody>
      </p:sp>
      <p:sp>
        <p:nvSpPr>
          <p:cNvPr id="7" name="Shape 5"/>
          <p:cNvSpPr/>
          <p:nvPr/>
        </p:nvSpPr>
        <p:spPr>
          <a:xfrm>
            <a:off x="457200" y="1371600"/>
            <a:ext cx="11201400" cy="1783080"/>
          </a:xfrm>
          <a:prstGeom prst="roundRect">
            <a:avLst>
              <a:gd name="adj" fmla="val 4103"/>
            </a:avLst>
          </a:prstGeom>
          <a:solidFill>
            <a:srgbClr val="F1F5F3"/>
          </a:solidFill>
          <a:ln w="12700">
            <a:solidFill>
              <a:srgbClr val="D8DEDB"/>
            </a:solidFill>
            <a:prstDash val="solid"/>
          </a:ln>
        </p:spPr>
      </p:sp>
      <p:sp>
        <p:nvSpPr>
          <p:cNvPr id="8" name="Text 6"/>
          <p:cNvSpPr/>
          <p:nvPr/>
        </p:nvSpPr>
        <p:spPr>
          <a:xfrm>
            <a:off x="713232" y="145389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NARRATION (VOICEOVER)</a:t>
            </a:r>
            <a:endParaRPr lang="en-US" sz="900" dirty="0"/>
          </a:p>
        </p:txBody>
      </p:sp>
      <p:sp>
        <p:nvSpPr>
          <p:cNvPr id="9" name="Text 7"/>
          <p:cNvSpPr/>
          <p:nvPr/>
        </p:nvSpPr>
        <p:spPr>
          <a:xfrm>
            <a:off x="713232" y="1682496"/>
            <a:ext cx="10698480" cy="138074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Guidehouse — mission-ready innovation, audit-ready every day.</a:t>
            </a:r>
            <a:endParaRPr lang="en-US" sz="1150" dirty="0"/>
          </a:p>
        </p:txBody>
      </p:sp>
      <p:sp>
        <p:nvSpPr>
          <p:cNvPr id="10" name="Shape 8"/>
          <p:cNvSpPr/>
          <p:nvPr/>
        </p:nvSpPr>
        <p:spPr>
          <a:xfrm>
            <a:off x="457200" y="3337560"/>
            <a:ext cx="11201400" cy="1188720"/>
          </a:xfrm>
          <a:prstGeom prst="roundRect">
            <a:avLst>
              <a:gd name="adj" fmla="val 6154"/>
            </a:avLst>
          </a:prstGeom>
          <a:solidFill>
            <a:srgbClr val="FFFFFF"/>
          </a:solidFill>
          <a:ln w="12700">
            <a:solidFill>
              <a:srgbClr val="D8DEDB"/>
            </a:solidFill>
            <a:prstDash val="solid"/>
          </a:ln>
        </p:spPr>
      </p:sp>
      <p:sp>
        <p:nvSpPr>
          <p:cNvPr id="11" name="Text 9"/>
          <p:cNvSpPr/>
          <p:nvPr/>
        </p:nvSpPr>
        <p:spPr>
          <a:xfrm>
            <a:off x="713232" y="34198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TEXT ON SCREEN</a:t>
            </a:r>
            <a:endParaRPr lang="en-US" sz="900" dirty="0"/>
          </a:p>
        </p:txBody>
      </p:sp>
      <p:sp>
        <p:nvSpPr>
          <p:cNvPr id="12" name="Text 10"/>
          <p:cNvSpPr/>
          <p:nvPr/>
        </p:nvSpPr>
        <p:spPr>
          <a:xfrm>
            <a:off x="713232" y="3648456"/>
            <a:ext cx="10698480" cy="78638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GUIDEHOUSE</a:t>
            </a:r>
            <a:endParaRPr lang="en-US" sz="1150" dirty="0"/>
          </a:p>
        </p:txBody>
      </p:sp>
      <p:sp>
        <p:nvSpPr>
          <p:cNvPr id="13" name="Shape 11"/>
          <p:cNvSpPr/>
          <p:nvPr/>
        </p:nvSpPr>
        <p:spPr>
          <a:xfrm>
            <a:off x="457200" y="4709160"/>
            <a:ext cx="11201400" cy="1600200"/>
          </a:xfrm>
          <a:prstGeom prst="roundRect">
            <a:avLst>
              <a:gd name="adj" fmla="val 4571"/>
            </a:avLst>
          </a:prstGeom>
          <a:solidFill>
            <a:srgbClr val="FFFFFF"/>
          </a:solidFill>
          <a:ln w="12700">
            <a:solidFill>
              <a:srgbClr val="D8DEDB"/>
            </a:solidFill>
            <a:prstDash val="solid"/>
          </a:ln>
        </p:spPr>
      </p:sp>
      <p:sp>
        <p:nvSpPr>
          <p:cNvPr id="14" name="Text 12"/>
          <p:cNvSpPr/>
          <p:nvPr/>
        </p:nvSpPr>
        <p:spPr>
          <a:xfrm>
            <a:off x="713232" y="4791456"/>
            <a:ext cx="2926080" cy="219456"/>
          </a:xfrm>
          <a:prstGeom prst="rect">
            <a:avLst/>
          </a:prstGeom>
          <a:noFill/>
          <a:ln/>
        </p:spPr>
        <p:txBody>
          <a:bodyPr wrap="square" lIns="0" tIns="0" rIns="0" bIns="0" rtlCol="0" anchor="ctr"/>
          <a:lstStyle/>
          <a:p>
            <a:pPr indent="0" marL="0">
              <a:buNone/>
            </a:pPr>
            <a:r>
              <a:rPr lang="en-US" sz="900" b="1" spc="100" kern="0" dirty="0">
                <a:solidFill>
                  <a:srgbClr val="31863E"/>
                </a:solidFill>
                <a:latin typeface="Calibri" pitchFamily="34" charset="0"/>
                <a:ea typeface="Calibri" pitchFamily="34" charset="-122"/>
                <a:cs typeface="Calibri" pitchFamily="34" charset="-120"/>
              </a:rPr>
              <a:t>PICTURE / SOURCE</a:t>
            </a:r>
            <a:endParaRPr lang="en-US" sz="900" dirty="0"/>
          </a:p>
        </p:txBody>
      </p:sp>
      <p:sp>
        <p:nvSpPr>
          <p:cNvPr id="15" name="Text 13"/>
          <p:cNvSpPr/>
          <p:nvPr/>
        </p:nvSpPr>
        <p:spPr>
          <a:xfrm>
            <a:off x="713232" y="5020056"/>
            <a:ext cx="10698480" cy="1197864"/>
          </a:xfrm>
          <a:prstGeom prst="rect">
            <a:avLst/>
          </a:prstGeom>
          <a:noFill/>
          <a:ln/>
        </p:spPr>
        <p:txBody>
          <a:bodyPr wrap="square" lIns="0" tIns="0" rIns="0" bIns="0" rtlCol="0" anchor="ctr"/>
          <a:lstStyle/>
          <a:p>
            <a:pPr indent="0" marL="0">
              <a:lnSpc>
                <a:spcPts val="1500"/>
              </a:lnSpc>
              <a:buNone/>
            </a:pPr>
            <a:r>
              <a:rPr lang="en-US" sz="1150" dirty="0">
                <a:solidFill>
                  <a:srgbClr val="1B1B1B"/>
                </a:solidFill>
                <a:latin typeface="Calibri" pitchFamily="34" charset="0"/>
                <a:ea typeface="Calibri" pitchFamily="34" charset="-122"/>
                <a:cs typeface="Calibri" pitchFamily="34" charset="-120"/>
              </a:rPr>
              <a:t>Final logo lockup on brand background, fade to black. Optional short audio sting.</a:t>
            </a:r>
            <a:endParaRPr lang="en-US" sz="1150" dirty="0"/>
          </a:p>
        </p:txBody>
      </p:sp>
      <p:sp>
        <p:nvSpPr>
          <p:cNvPr id="16" name="Text 14"/>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17"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31863E"/>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48640" y="658368"/>
            <a:ext cx="11064240" cy="548640"/>
          </a:xfrm>
          <a:prstGeom prst="rect">
            <a:avLst/>
          </a:prstGeom>
          <a:noFill/>
          <a:ln/>
        </p:spPr>
        <p:txBody>
          <a:bodyPr wrap="square" lIns="0" tIns="0" rIns="0" bIns="0"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Narration redline, before and after</a:t>
            </a:r>
            <a:endParaRPr lang="en-US" sz="3200" dirty="0"/>
          </a:p>
        </p:txBody>
      </p:sp>
      <p:sp>
        <p:nvSpPr>
          <p:cNvPr id="4" name="Text 2"/>
          <p:cNvSpPr/>
          <p:nvPr/>
        </p:nvSpPr>
        <p:spPr>
          <a:xfrm>
            <a:off x="457200" y="1554480"/>
            <a:ext cx="868680" cy="274320"/>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SHOT 13</a:t>
            </a:r>
            <a:endParaRPr lang="en-US" sz="1000" dirty="0"/>
          </a:p>
        </p:txBody>
      </p:sp>
      <p:sp>
        <p:nvSpPr>
          <p:cNvPr id="5" name="Text 3"/>
          <p:cNvSpPr/>
          <p:nvPr/>
        </p:nvSpPr>
        <p:spPr>
          <a:xfrm>
            <a:off x="1371600" y="1517904"/>
            <a:ext cx="4937760" cy="731520"/>
          </a:xfrm>
          <a:prstGeom prst="rect">
            <a:avLst/>
          </a:prstGeom>
          <a:noFill/>
          <a:ln/>
        </p:spPr>
        <p:txBody>
          <a:bodyPr wrap="square" lIns="0" tIns="0" rIns="0" bIns="0" rtlCol="0" anchor="ctr"/>
          <a:lstStyle/>
          <a:p>
            <a:pPr indent="0" marL="0">
              <a:lnSpc>
                <a:spcPts val="1050"/>
              </a:lnSpc>
              <a:buNone/>
            </a:pPr>
            <a:r>
              <a:rPr lang="en-US" sz="860" i="1" dirty="0">
                <a:solidFill>
                  <a:srgbClr val="5A6568"/>
                </a:solidFill>
                <a:latin typeface="Calibri" pitchFamily="34" charset="0"/>
                <a:ea typeface="Calibri" pitchFamily="34" charset="-122"/>
                <a:cs typeface="Calibri" pitchFamily="34" charset="-120"/>
              </a:rPr>
              <a:t>What used to take [3 days] of back-and-forth is delivered to the auditor in [minutes] — defensible, repeatable, and ready for the audit file. That's the product cutting the time spent on a highly manual, repetitive process — and accelerating the mission.</a:t>
            </a:r>
            <a:endParaRPr lang="en-US" sz="860" dirty="0"/>
          </a:p>
        </p:txBody>
      </p:sp>
      <p:sp>
        <p:nvSpPr>
          <p:cNvPr id="6" name="Text 4"/>
          <p:cNvSpPr/>
          <p:nvPr/>
        </p:nvSpPr>
        <p:spPr>
          <a:xfrm>
            <a:off x="6537960" y="1517904"/>
            <a:ext cx="5120640" cy="731520"/>
          </a:xfrm>
          <a:prstGeom prst="rect">
            <a:avLst/>
          </a:prstGeom>
          <a:noFill/>
          <a:ln/>
        </p:spPr>
        <p:txBody>
          <a:bodyPr wrap="square" lIns="0" tIns="0" rIns="0" bIns="0" rtlCol="0" anchor="ctr"/>
          <a:lstStyle/>
          <a:p>
            <a:pPr indent="0" marL="0">
              <a:lnSpc>
                <a:spcPts val="1050"/>
              </a:lnSpc>
              <a:buNone/>
            </a:pPr>
            <a:r>
              <a:rPr lang="en-US" sz="860" dirty="0">
                <a:solidFill>
                  <a:srgbClr val="1B1B1B"/>
                </a:solidFill>
                <a:latin typeface="Calibri" pitchFamily="34" charset="0"/>
                <a:ea typeface="Calibri" pitchFamily="34" charset="-122"/>
                <a:cs typeface="Calibri" pitchFamily="34" charset="-120"/>
              </a:rPr>
              <a:t>This is what accelerating the mission looks like. A records request that took about three days of back-and-forth is delivered to the auditor in minutes — defensible, repeatable, and ready for the audit file. The analyst's week goes back to analysis instead of document hunts.</a:t>
            </a:r>
            <a:endParaRPr lang="en-US" sz="860" dirty="0"/>
          </a:p>
        </p:txBody>
      </p:sp>
      <p:sp>
        <p:nvSpPr>
          <p:cNvPr id="7" name="Text 5"/>
          <p:cNvSpPr/>
          <p:nvPr/>
        </p:nvSpPr>
        <p:spPr>
          <a:xfrm>
            <a:off x="457200" y="2331720"/>
            <a:ext cx="868680" cy="274320"/>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SHOT 15</a:t>
            </a:r>
            <a:endParaRPr lang="en-US" sz="1000" dirty="0"/>
          </a:p>
        </p:txBody>
      </p:sp>
      <p:sp>
        <p:nvSpPr>
          <p:cNvPr id="8" name="Text 6"/>
          <p:cNvSpPr/>
          <p:nvPr/>
        </p:nvSpPr>
        <p:spPr>
          <a:xfrm>
            <a:off x="1371600" y="2295144"/>
            <a:ext cx="4937760" cy="731520"/>
          </a:xfrm>
          <a:prstGeom prst="rect">
            <a:avLst/>
          </a:prstGeom>
          <a:noFill/>
          <a:ln/>
        </p:spPr>
        <p:txBody>
          <a:bodyPr wrap="square" lIns="0" tIns="0" rIns="0" bIns="0" rtlCol="0" anchor="ctr"/>
          <a:lstStyle/>
          <a:p>
            <a:pPr indent="0" marL="0">
              <a:lnSpc>
                <a:spcPts val="1050"/>
              </a:lnSpc>
              <a:buNone/>
            </a:pPr>
            <a:r>
              <a:rPr lang="en-US" sz="860" i="1" dirty="0">
                <a:solidFill>
                  <a:srgbClr val="5A6568"/>
                </a:solidFill>
                <a:latin typeface="Calibri" pitchFamily="34" charset="0"/>
                <a:ea typeface="Calibri" pitchFamily="34" charset="-122"/>
                <a:cs typeface="Calibri" pitchFamily="34" charset="-120"/>
              </a:rPr>
              <a:t>And this isn't hypothetical. Financial Management of the Future is in production today across federal missions — at the OSW Comptroller, the Department of the Army, and Army Transportation Command — already delivering audit-ready results.</a:t>
            </a:r>
            <a:endParaRPr lang="en-US" sz="860" dirty="0"/>
          </a:p>
        </p:txBody>
      </p:sp>
      <p:sp>
        <p:nvSpPr>
          <p:cNvPr id="9" name="Text 7"/>
          <p:cNvSpPr/>
          <p:nvPr/>
        </p:nvSpPr>
        <p:spPr>
          <a:xfrm>
            <a:off x="6537960" y="2295144"/>
            <a:ext cx="5120640" cy="731520"/>
          </a:xfrm>
          <a:prstGeom prst="rect">
            <a:avLst/>
          </a:prstGeom>
          <a:noFill/>
          <a:ln/>
        </p:spPr>
        <p:txBody>
          <a:bodyPr wrap="square" lIns="0" tIns="0" rIns="0" bIns="0" rtlCol="0" anchor="ctr"/>
          <a:lstStyle/>
          <a:p>
            <a:pPr indent="0" marL="0">
              <a:lnSpc>
                <a:spcPts val="1050"/>
              </a:lnSpc>
              <a:buNone/>
            </a:pPr>
            <a:r>
              <a:rPr lang="en-US" sz="860" dirty="0">
                <a:solidFill>
                  <a:srgbClr val="1B1B1B"/>
                </a:solidFill>
                <a:latin typeface="Calibri" pitchFamily="34" charset="0"/>
                <a:ea typeface="Calibri" pitchFamily="34" charset="-122"/>
                <a:cs typeface="Calibri" pitchFamily="34" charset="-120"/>
              </a:rPr>
              <a:t>And this isn't hypothetical. Financial Management of the Future is in production today across federal missions — at the Department of the Army and Army Transportation Command — already delivering audit-ready results on real financial data.</a:t>
            </a:r>
            <a:endParaRPr lang="en-US" sz="860" dirty="0"/>
          </a:p>
        </p:txBody>
      </p:sp>
      <p:sp>
        <p:nvSpPr>
          <p:cNvPr id="10" name="Text 8"/>
          <p:cNvSpPr/>
          <p:nvPr/>
        </p:nvSpPr>
        <p:spPr>
          <a:xfrm>
            <a:off x="457200" y="3108960"/>
            <a:ext cx="868680" cy="274320"/>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SHOT 16</a:t>
            </a:r>
            <a:endParaRPr lang="en-US" sz="1000" dirty="0"/>
          </a:p>
        </p:txBody>
      </p:sp>
      <p:sp>
        <p:nvSpPr>
          <p:cNvPr id="11" name="Text 9"/>
          <p:cNvSpPr/>
          <p:nvPr/>
        </p:nvSpPr>
        <p:spPr>
          <a:xfrm>
            <a:off x="1371600" y="3072384"/>
            <a:ext cx="4937760" cy="731520"/>
          </a:xfrm>
          <a:prstGeom prst="rect">
            <a:avLst/>
          </a:prstGeom>
          <a:noFill/>
          <a:ln/>
        </p:spPr>
        <p:txBody>
          <a:bodyPr wrap="square" lIns="0" tIns="0" rIns="0" bIns="0" rtlCol="0" anchor="ctr"/>
          <a:lstStyle/>
          <a:p>
            <a:pPr indent="0" marL="0">
              <a:lnSpc>
                <a:spcPts val="1050"/>
              </a:lnSpc>
              <a:buNone/>
            </a:pPr>
            <a:r>
              <a:rPr lang="en-US" sz="860" i="1" dirty="0">
                <a:solidFill>
                  <a:srgbClr val="5A6568"/>
                </a:solidFill>
                <a:latin typeface="Calibri" pitchFamily="34" charset="0"/>
                <a:ea typeface="Calibri" pitchFamily="34" charset="-122"/>
                <a:cs typeface="Calibri" pitchFamily="34" charset="-120"/>
              </a:rPr>
              <a:t>It advances the state of the art by orchestrating accredited, already-in-use building blocks — Databricks for data pipelines, cloud-native services, agentic orchestration, and human-in-the-loop guardrails on every output. Not a brittle rules engine to maintain forever, and not another manual review team.</a:t>
            </a:r>
            <a:endParaRPr lang="en-US" sz="860" dirty="0"/>
          </a:p>
        </p:txBody>
      </p:sp>
      <p:sp>
        <p:nvSpPr>
          <p:cNvPr id="12" name="Text 10"/>
          <p:cNvSpPr/>
          <p:nvPr/>
        </p:nvSpPr>
        <p:spPr>
          <a:xfrm>
            <a:off x="6537960" y="3072384"/>
            <a:ext cx="5120640" cy="731520"/>
          </a:xfrm>
          <a:prstGeom prst="rect">
            <a:avLst/>
          </a:prstGeom>
          <a:noFill/>
          <a:ln/>
        </p:spPr>
        <p:txBody>
          <a:bodyPr wrap="square" lIns="0" tIns="0" rIns="0" bIns="0" rtlCol="0" anchor="ctr"/>
          <a:lstStyle/>
          <a:p>
            <a:pPr indent="0" marL="0">
              <a:lnSpc>
                <a:spcPts val="1050"/>
              </a:lnSpc>
              <a:buNone/>
            </a:pPr>
            <a:r>
              <a:rPr lang="en-US" sz="860" dirty="0">
                <a:solidFill>
                  <a:srgbClr val="1B1B1B"/>
                </a:solidFill>
                <a:latin typeface="Calibri" pitchFamily="34" charset="0"/>
                <a:ea typeface="Calibri" pitchFamily="34" charset="-122"/>
                <a:cs typeface="Calibri" pitchFamily="34" charset="-120"/>
              </a:rPr>
              <a:t>It advances the state of the art two ways. Agents reason where rules engines can't, explaining every exception in language a reviewer can defend. And it orchestrates accredited building blocks already in use — Databricks, cloud-native services, agentic orchestration, human-in-the-loop guardrails — cutting manual review an estimated eighty to ninety percent. Not another manual review team.</a:t>
            </a:r>
            <a:endParaRPr lang="en-US" sz="860" dirty="0"/>
          </a:p>
        </p:txBody>
      </p:sp>
      <p:sp>
        <p:nvSpPr>
          <p:cNvPr id="13" name="Text 11"/>
          <p:cNvSpPr/>
          <p:nvPr/>
        </p:nvSpPr>
        <p:spPr>
          <a:xfrm>
            <a:off x="457200" y="3886200"/>
            <a:ext cx="868680" cy="274320"/>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SHOT 17</a:t>
            </a:r>
            <a:endParaRPr lang="en-US" sz="1000" dirty="0"/>
          </a:p>
        </p:txBody>
      </p:sp>
      <p:sp>
        <p:nvSpPr>
          <p:cNvPr id="14" name="Text 12"/>
          <p:cNvSpPr/>
          <p:nvPr/>
        </p:nvSpPr>
        <p:spPr>
          <a:xfrm>
            <a:off x="1371600" y="3849624"/>
            <a:ext cx="4937760" cy="731520"/>
          </a:xfrm>
          <a:prstGeom prst="rect">
            <a:avLst/>
          </a:prstGeom>
          <a:noFill/>
          <a:ln/>
        </p:spPr>
        <p:txBody>
          <a:bodyPr wrap="square" lIns="0" tIns="0" rIns="0" bIns="0" rtlCol="0" anchor="ctr"/>
          <a:lstStyle/>
          <a:p>
            <a:pPr indent="0" marL="0">
              <a:lnSpc>
                <a:spcPts val="1050"/>
              </a:lnSpc>
              <a:buNone/>
            </a:pPr>
            <a:r>
              <a:rPr lang="en-US" sz="860" i="1" dirty="0">
                <a:solidFill>
                  <a:srgbClr val="5A6568"/>
                </a:solidFill>
                <a:latin typeface="Calibri" pitchFamily="34" charset="0"/>
                <a:ea typeface="Calibri" pitchFamily="34" charset="-122"/>
                <a:cs typeface="Calibri" pitchFamily="34" charset="-120"/>
              </a:rPr>
              <a:t>The business model is built for fast adoption: a deployable, subscription-based product at Technology Readiness Level [TRL X]. We acquired the original AFRL SBIR topic, and as the successor-in-interest, Guidehouse is eligible for SBIR Phase III direct award — enabling rapid, sole-source contracting to put this in your hands in weeks, not years</a:t>
            </a:r>
            <a:endParaRPr lang="en-US" sz="860" dirty="0"/>
          </a:p>
        </p:txBody>
      </p:sp>
      <p:sp>
        <p:nvSpPr>
          <p:cNvPr id="15" name="Text 13"/>
          <p:cNvSpPr/>
          <p:nvPr/>
        </p:nvSpPr>
        <p:spPr>
          <a:xfrm>
            <a:off x="6537960" y="3849624"/>
            <a:ext cx="5120640" cy="731520"/>
          </a:xfrm>
          <a:prstGeom prst="rect">
            <a:avLst/>
          </a:prstGeom>
          <a:noFill/>
          <a:ln/>
        </p:spPr>
        <p:txBody>
          <a:bodyPr wrap="square" lIns="0" tIns="0" rIns="0" bIns="0" rtlCol="0" anchor="ctr"/>
          <a:lstStyle/>
          <a:p>
            <a:pPr indent="0" marL="0">
              <a:lnSpc>
                <a:spcPts val="1050"/>
              </a:lnSpc>
              <a:buNone/>
            </a:pPr>
            <a:r>
              <a:rPr lang="en-US" sz="860" dirty="0">
                <a:solidFill>
                  <a:srgbClr val="1B1B1B"/>
                </a:solidFill>
                <a:latin typeface="Calibri" pitchFamily="34" charset="0"/>
                <a:ea typeface="Calibri" pitchFamily="34" charset="-122"/>
                <a:cs typeface="Calibri" pitchFamily="34" charset="-120"/>
              </a:rPr>
              <a:t>The business model is built for fast adoption: a mature, deployable product at Technology Readiness Level five to six, validated in a relevant environment. We acquired the AFRL SBIR topic, and as successor-in-interest Guidehouse is eligible for SBIR Phase Three award — sole-source, in weeks, not years.</a:t>
            </a:r>
            <a:endParaRPr lang="en-US" sz="860" dirty="0"/>
          </a:p>
        </p:txBody>
      </p:sp>
      <p:sp>
        <p:nvSpPr>
          <p:cNvPr id="16" name="Text 14"/>
          <p:cNvSpPr/>
          <p:nvPr/>
        </p:nvSpPr>
        <p:spPr>
          <a:xfrm>
            <a:off x="457200" y="4663440"/>
            <a:ext cx="868680" cy="274320"/>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SHOT 18</a:t>
            </a:r>
            <a:endParaRPr lang="en-US" sz="1000" dirty="0"/>
          </a:p>
        </p:txBody>
      </p:sp>
      <p:sp>
        <p:nvSpPr>
          <p:cNvPr id="17" name="Text 15"/>
          <p:cNvSpPr/>
          <p:nvPr/>
        </p:nvSpPr>
        <p:spPr>
          <a:xfrm>
            <a:off x="1371600" y="4626864"/>
            <a:ext cx="4937760" cy="731520"/>
          </a:xfrm>
          <a:prstGeom prst="rect">
            <a:avLst/>
          </a:prstGeom>
          <a:noFill/>
          <a:ln/>
        </p:spPr>
        <p:txBody>
          <a:bodyPr wrap="square" lIns="0" tIns="0" rIns="0" bIns="0" rtlCol="0" anchor="ctr"/>
          <a:lstStyle/>
          <a:p>
            <a:pPr indent="0" marL="0">
              <a:lnSpc>
                <a:spcPts val="1050"/>
              </a:lnSpc>
              <a:buNone/>
            </a:pPr>
            <a:r>
              <a:rPr lang="en-US" sz="860" i="1" dirty="0">
                <a:solidFill>
                  <a:srgbClr val="5A6568"/>
                </a:solidFill>
                <a:latin typeface="Calibri" pitchFamily="34" charset="0"/>
                <a:ea typeface="Calibri" pitchFamily="34" charset="-122"/>
                <a:cs typeface="Calibri" pitchFamily="34" charset="-120"/>
              </a:rPr>
              <a:t>Financial Management of the Future is sold as a subscription, scoped to the size of your data and your audit workload — so you can be up and running in weeks. Tell us about your environment and we'll put together a quote that fits it.</a:t>
            </a:r>
            <a:endParaRPr lang="en-US" sz="860" dirty="0"/>
          </a:p>
        </p:txBody>
      </p:sp>
      <p:sp>
        <p:nvSpPr>
          <p:cNvPr id="18" name="Text 16"/>
          <p:cNvSpPr/>
          <p:nvPr/>
        </p:nvSpPr>
        <p:spPr>
          <a:xfrm>
            <a:off x="6537960" y="4626864"/>
            <a:ext cx="5120640" cy="731520"/>
          </a:xfrm>
          <a:prstGeom prst="rect">
            <a:avLst/>
          </a:prstGeom>
          <a:noFill/>
          <a:ln/>
        </p:spPr>
        <p:txBody>
          <a:bodyPr wrap="square" lIns="0" tIns="0" rIns="0" bIns="0" rtlCol="0" anchor="ctr"/>
          <a:lstStyle/>
          <a:p>
            <a:pPr indent="0" marL="0">
              <a:lnSpc>
                <a:spcPts val="1050"/>
              </a:lnSpc>
              <a:buNone/>
            </a:pPr>
            <a:r>
              <a:rPr lang="en-US" sz="860" dirty="0">
                <a:solidFill>
                  <a:srgbClr val="1B1B1B"/>
                </a:solidFill>
                <a:latin typeface="Calibri" pitchFamily="34" charset="0"/>
                <a:ea typeface="Calibri" pitchFamily="34" charset="-122"/>
                <a:cs typeface="Calibri" pitchFamily="34" charset="-120"/>
              </a:rPr>
              <a:t>Contact us to learn more — and see what Guidehouse and Financial Management of the Future can do for your mission, on your data.</a:t>
            </a:r>
            <a:endParaRPr lang="en-US" sz="860" dirty="0"/>
          </a:p>
        </p:txBody>
      </p:sp>
      <p:sp>
        <p:nvSpPr>
          <p:cNvPr id="19" name="Text 17"/>
          <p:cNvSpPr/>
          <p:nvPr/>
        </p:nvSpPr>
        <p:spPr>
          <a:xfrm>
            <a:off x="457200" y="5440680"/>
            <a:ext cx="868680" cy="274320"/>
          </a:xfrm>
          <a:prstGeom prst="rect">
            <a:avLst/>
          </a:prstGeom>
          <a:noFill/>
          <a:ln/>
        </p:spPr>
        <p:txBody>
          <a:bodyPr wrap="square" lIns="0" tIns="0" rIns="0" bIns="0" rtlCol="0" anchor="ctr"/>
          <a:lstStyle/>
          <a:p>
            <a:pPr indent="0" marL="0">
              <a:buNone/>
            </a:pPr>
            <a:r>
              <a:rPr lang="en-US" sz="1000" b="1" dirty="0">
                <a:solidFill>
                  <a:srgbClr val="31863E"/>
                </a:solidFill>
                <a:latin typeface="Calibri" pitchFamily="34" charset="0"/>
                <a:ea typeface="Calibri" pitchFamily="34" charset="-122"/>
                <a:cs typeface="Calibri" pitchFamily="34" charset="-120"/>
              </a:rPr>
              <a:t>SHOT 19</a:t>
            </a:r>
            <a:endParaRPr lang="en-US" sz="1000" dirty="0"/>
          </a:p>
        </p:txBody>
      </p:sp>
      <p:sp>
        <p:nvSpPr>
          <p:cNvPr id="20" name="Text 18"/>
          <p:cNvSpPr/>
          <p:nvPr/>
        </p:nvSpPr>
        <p:spPr>
          <a:xfrm>
            <a:off x="1371600" y="5404104"/>
            <a:ext cx="4937760" cy="731520"/>
          </a:xfrm>
          <a:prstGeom prst="rect">
            <a:avLst/>
          </a:prstGeom>
          <a:noFill/>
          <a:ln/>
        </p:spPr>
        <p:txBody>
          <a:bodyPr wrap="square" lIns="0" tIns="0" rIns="0" bIns="0" rtlCol="0" anchor="ctr"/>
          <a:lstStyle/>
          <a:p>
            <a:pPr indent="0" marL="0">
              <a:lnSpc>
                <a:spcPts val="1050"/>
              </a:lnSpc>
              <a:buNone/>
            </a:pPr>
            <a:r>
              <a:rPr lang="en-US" sz="860" i="1" dirty="0">
                <a:solidFill>
                  <a:srgbClr val="5A6568"/>
                </a:solidFill>
                <a:latin typeface="Calibri" pitchFamily="34" charset="0"/>
                <a:ea typeface="Calibri" pitchFamily="34" charset="-122"/>
                <a:cs typeface="Calibri" pitchFamily="34" charset="-120"/>
              </a:rPr>
              <a:t>Find Financial Management of the Future on the CDAO Tradewinds Silver Aisle. Bring your hardest reconciliation and your messiest records — we'll show you what the agents do with them.</a:t>
            </a:r>
            <a:endParaRPr lang="en-US" sz="860" dirty="0"/>
          </a:p>
        </p:txBody>
      </p:sp>
      <p:sp>
        <p:nvSpPr>
          <p:cNvPr id="21" name="Text 19"/>
          <p:cNvSpPr/>
          <p:nvPr/>
        </p:nvSpPr>
        <p:spPr>
          <a:xfrm>
            <a:off x="6537960" y="5404104"/>
            <a:ext cx="5120640" cy="731520"/>
          </a:xfrm>
          <a:prstGeom prst="rect">
            <a:avLst/>
          </a:prstGeom>
          <a:noFill/>
          <a:ln/>
        </p:spPr>
        <p:txBody>
          <a:bodyPr wrap="square" lIns="0" tIns="0" rIns="0" bIns="0" rtlCol="0" anchor="ctr"/>
          <a:lstStyle/>
          <a:p>
            <a:pPr indent="0" marL="0">
              <a:lnSpc>
                <a:spcPts val="1050"/>
              </a:lnSpc>
              <a:buNone/>
            </a:pPr>
            <a:r>
              <a:rPr lang="en-US" sz="860" dirty="0">
                <a:solidFill>
                  <a:srgbClr val="1B1B1B"/>
                </a:solidFill>
                <a:latin typeface="Calibri" pitchFamily="34" charset="0"/>
                <a:ea typeface="Calibri" pitchFamily="34" charset="-122"/>
                <a:cs typeface="Calibri" pitchFamily="34" charset="-120"/>
              </a:rPr>
              <a:t>Find Financial Management of the Future on the CDAO Tradewinds Solutions Marketplace, in the SBIR Aisle. Bring your hardest reconciliation and your messiest records — we'll show you what the agents do with them.</a:t>
            </a:r>
            <a:endParaRPr lang="en-US" sz="860" dirty="0"/>
          </a:p>
        </p:txBody>
      </p:sp>
      <p:sp>
        <p:nvSpPr>
          <p:cNvPr id="22" name="Text 20"/>
          <p:cNvSpPr/>
          <p:nvPr/>
        </p:nvSpPr>
        <p:spPr>
          <a:xfrm>
            <a:off x="1371600" y="1243584"/>
            <a:ext cx="1828800" cy="219456"/>
          </a:xfrm>
          <a:prstGeom prst="rect">
            <a:avLst/>
          </a:prstGeom>
          <a:noFill/>
          <a:ln/>
        </p:spPr>
        <p:txBody>
          <a:bodyPr wrap="square" lIns="0" tIns="0" rIns="0" bIns="0" rtlCol="0" anchor="ctr"/>
          <a:lstStyle/>
          <a:p>
            <a:pPr indent="0" marL="0">
              <a:buNone/>
            </a:pPr>
            <a:r>
              <a:rPr lang="en-US" sz="900" b="1" dirty="0">
                <a:solidFill>
                  <a:srgbClr val="5A6568"/>
                </a:solidFill>
                <a:latin typeface="Calibri" pitchFamily="34" charset="0"/>
                <a:ea typeface="Calibri" pitchFamily="34" charset="-122"/>
                <a:cs typeface="Calibri" pitchFamily="34" charset="-120"/>
              </a:rPr>
              <a:t>REV 1</a:t>
            </a:r>
            <a:endParaRPr lang="en-US" sz="900" dirty="0"/>
          </a:p>
        </p:txBody>
      </p:sp>
      <p:sp>
        <p:nvSpPr>
          <p:cNvPr id="23" name="Text 21"/>
          <p:cNvSpPr/>
          <p:nvPr/>
        </p:nvSpPr>
        <p:spPr>
          <a:xfrm>
            <a:off x="6537960" y="1243584"/>
            <a:ext cx="1828800" cy="219456"/>
          </a:xfrm>
          <a:prstGeom prst="rect">
            <a:avLst/>
          </a:prstGeom>
          <a:noFill/>
          <a:ln/>
        </p:spPr>
        <p:txBody>
          <a:bodyPr wrap="square" lIns="0" tIns="0" rIns="0" bIns="0" rtlCol="0" anchor="ctr"/>
          <a:lstStyle/>
          <a:p>
            <a:pPr indent="0" marL="0">
              <a:buNone/>
            </a:pPr>
            <a:r>
              <a:rPr lang="en-US" sz="900" b="1" dirty="0">
                <a:solidFill>
                  <a:srgbClr val="31863E"/>
                </a:solidFill>
                <a:latin typeface="Calibri" pitchFamily="34" charset="0"/>
                <a:ea typeface="Calibri" pitchFamily="34" charset="-122"/>
                <a:cs typeface="Calibri" pitchFamily="34" charset="-120"/>
              </a:rPr>
              <a:t>REV 2</a:t>
            </a:r>
            <a:endParaRPr lang="en-US" sz="900" dirty="0"/>
          </a:p>
        </p:txBody>
      </p:sp>
      <p:sp>
        <p:nvSpPr>
          <p:cNvPr id="24" name="Text 22"/>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25" name="Text 23"/>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1B"/>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93D500"/>
                </a:solidFill>
                <a:latin typeface="Calibri" pitchFamily="34" charset="0"/>
                <a:ea typeface="Calibri" pitchFamily="34" charset="-122"/>
                <a:cs typeface="Calibri" pitchFamily="34" charset="-120"/>
              </a:rPr>
              <a:t>FOR PRODUCTION</a:t>
            </a:r>
            <a:endParaRPr lang="en-US" sz="1100" dirty="0"/>
          </a:p>
        </p:txBody>
      </p:sp>
      <p:sp>
        <p:nvSpPr>
          <p:cNvPr id="3" name="Text 1"/>
          <p:cNvSpPr/>
          <p:nvPr/>
        </p:nvSpPr>
        <p:spPr>
          <a:xfrm>
            <a:off x="548640" y="777240"/>
            <a:ext cx="100584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has to be redone</a:t>
            </a:r>
            <a:endParaRPr lang="en-US" sz="3200" dirty="0"/>
          </a:p>
        </p:txBody>
      </p:sp>
      <p:sp>
        <p:nvSpPr>
          <p:cNvPr id="4" name="Shape 2"/>
          <p:cNvSpPr/>
          <p:nvPr/>
        </p:nvSpPr>
        <p:spPr>
          <a:xfrm>
            <a:off x="548640" y="1609344"/>
            <a:ext cx="365760" cy="365760"/>
          </a:xfrm>
          <a:prstGeom prst="ellipse">
            <a:avLst/>
          </a:prstGeom>
          <a:solidFill>
            <a:srgbClr val="93D500"/>
          </a:solidFill>
          <a:ln/>
        </p:spPr>
      </p:sp>
      <p:sp>
        <p:nvSpPr>
          <p:cNvPr id="5" name="Text 3"/>
          <p:cNvSpPr/>
          <p:nvPr/>
        </p:nvSpPr>
        <p:spPr>
          <a:xfrm>
            <a:off x="548640" y="1609344"/>
            <a:ext cx="365760" cy="365760"/>
          </a:xfrm>
          <a:prstGeom prst="rect">
            <a:avLst/>
          </a:prstGeom>
          <a:noFill/>
          <a:ln/>
        </p:spPr>
        <p:txBody>
          <a:bodyPr wrap="square" lIns="0" tIns="0" rIns="0" bIns="0" rtlCol="0" anchor="ctr"/>
          <a:lstStyle/>
          <a:p>
            <a:pPr algn="ctr" indent="0" marL="0">
              <a:buNone/>
            </a:pPr>
            <a:r>
              <a:rPr lang="en-US" sz="1300" b="1" dirty="0">
                <a:solidFill>
                  <a:srgbClr val="1B1B1B"/>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97280" y="1572768"/>
            <a:ext cx="4663440" cy="45720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Re-capture the product footage</a:t>
            </a:r>
            <a:endParaRPr lang="en-US" sz="1250" dirty="0"/>
          </a:p>
        </p:txBody>
      </p:sp>
      <p:sp>
        <p:nvSpPr>
          <p:cNvPr id="7" name="Text 5"/>
          <p:cNvSpPr/>
          <p:nvPr/>
        </p:nvSpPr>
        <p:spPr>
          <a:xfrm>
            <a:off x="5897880" y="1572768"/>
            <a:ext cx="5760720" cy="731520"/>
          </a:xfrm>
          <a:prstGeom prst="rect">
            <a:avLst/>
          </a:prstGeom>
          <a:noFill/>
          <a:ln/>
        </p:spPr>
        <p:txBody>
          <a:bodyPr wrap="square" lIns="0" tIns="0" rIns="0" bIns="0" rtlCol="0" anchor="ctr"/>
          <a:lstStyle/>
          <a:p>
            <a:pPr indent="0" marL="0">
              <a:lnSpc>
                <a:spcPts val="1250"/>
              </a:lnSpc>
              <a:buNone/>
            </a:pPr>
            <a:r>
              <a:rPr lang="en-US" sz="1000" dirty="0">
                <a:solidFill>
                  <a:srgbClr val="B9C4BF"/>
                </a:solidFill>
                <a:latin typeface="Calibri" pitchFamily="34" charset="0"/>
                <a:ea typeface="Calibri" pitchFamily="34" charset="-122"/>
                <a:cs typeface="Calibri" pitchFamily="34" charset="-120"/>
              </a:rPr>
              <a:t>Shots 4, 5, 13, 15, 16, 18 all changed on screen. Re-shooting the full pass is simpler than patching. capture-live-product.js against the app on :5180, then build-live-product.sh (shot durations already updated).</a:t>
            </a:r>
            <a:endParaRPr lang="en-US" sz="1000" dirty="0"/>
          </a:p>
        </p:txBody>
      </p:sp>
      <p:sp>
        <p:nvSpPr>
          <p:cNvPr id="8" name="Shape 6"/>
          <p:cNvSpPr/>
          <p:nvPr/>
        </p:nvSpPr>
        <p:spPr>
          <a:xfrm>
            <a:off x="548640" y="2404872"/>
            <a:ext cx="365760" cy="365760"/>
          </a:xfrm>
          <a:prstGeom prst="ellipse">
            <a:avLst/>
          </a:prstGeom>
          <a:solidFill>
            <a:srgbClr val="93D500"/>
          </a:solidFill>
          <a:ln/>
        </p:spPr>
      </p:sp>
      <p:sp>
        <p:nvSpPr>
          <p:cNvPr id="9" name="Text 7"/>
          <p:cNvSpPr/>
          <p:nvPr/>
        </p:nvSpPr>
        <p:spPr>
          <a:xfrm>
            <a:off x="548640" y="2404872"/>
            <a:ext cx="365760" cy="365760"/>
          </a:xfrm>
          <a:prstGeom prst="rect">
            <a:avLst/>
          </a:prstGeom>
          <a:noFill/>
          <a:ln/>
        </p:spPr>
        <p:txBody>
          <a:bodyPr wrap="square" lIns="0" tIns="0" rIns="0" bIns="0" rtlCol="0" anchor="ctr"/>
          <a:lstStyle/>
          <a:p>
            <a:pPr algn="ctr" indent="0" marL="0">
              <a:buNone/>
            </a:pPr>
            <a:r>
              <a:rPr lang="en-US" sz="1300" b="1" dirty="0">
                <a:solidFill>
                  <a:srgbClr val="1B1B1B"/>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97280" y="2368296"/>
            <a:ext cx="4663440" cy="45720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Re-record the voiceover from 2:47 onward</a:t>
            </a:r>
            <a:endParaRPr lang="en-US" sz="1250" dirty="0"/>
          </a:p>
        </p:txBody>
      </p:sp>
      <p:sp>
        <p:nvSpPr>
          <p:cNvPr id="11" name="Text 9"/>
          <p:cNvSpPr/>
          <p:nvPr/>
        </p:nvSpPr>
        <p:spPr>
          <a:xfrm>
            <a:off x="5897880" y="2368296"/>
            <a:ext cx="5760720" cy="731520"/>
          </a:xfrm>
          <a:prstGeom prst="rect">
            <a:avLst/>
          </a:prstGeom>
          <a:noFill/>
          <a:ln/>
        </p:spPr>
        <p:txBody>
          <a:bodyPr wrap="square" lIns="0" tIns="0" rIns="0" bIns="0" rtlCol="0" anchor="ctr"/>
          <a:lstStyle/>
          <a:p>
            <a:pPr indent="0" marL="0">
              <a:lnSpc>
                <a:spcPts val="1250"/>
              </a:lnSpc>
              <a:buNone/>
            </a:pPr>
            <a:r>
              <a:rPr lang="en-US" sz="1000" dirty="0">
                <a:solidFill>
                  <a:srgbClr val="B9C4BF"/>
                </a:solidFill>
                <a:latin typeface="Calibri" pitchFamily="34" charset="0"/>
                <a:ea typeface="Calibri" pitchFamily="34" charset="-122"/>
                <a:cs typeface="Calibri" pitchFamily="34" charset="-120"/>
              </a:rPr>
              <a:t>Shots 13, 15, 16, 17, 18, 19. Shots 1 to 12 are unchanged and those takes still work. SBIR is said as a word: "SY-ber", never spelled out.</a:t>
            </a:r>
            <a:endParaRPr lang="en-US" sz="1000" dirty="0"/>
          </a:p>
        </p:txBody>
      </p:sp>
      <p:sp>
        <p:nvSpPr>
          <p:cNvPr id="12" name="Shape 10"/>
          <p:cNvSpPr/>
          <p:nvPr/>
        </p:nvSpPr>
        <p:spPr>
          <a:xfrm>
            <a:off x="548640" y="3200400"/>
            <a:ext cx="365760" cy="365760"/>
          </a:xfrm>
          <a:prstGeom prst="ellipse">
            <a:avLst/>
          </a:prstGeom>
          <a:solidFill>
            <a:srgbClr val="93D500"/>
          </a:solidFill>
          <a:ln/>
        </p:spPr>
      </p:sp>
      <p:sp>
        <p:nvSpPr>
          <p:cNvPr id="13" name="Text 11"/>
          <p:cNvSpPr/>
          <p:nvPr/>
        </p:nvSpPr>
        <p:spPr>
          <a:xfrm>
            <a:off x="548640" y="3200400"/>
            <a:ext cx="365760" cy="365760"/>
          </a:xfrm>
          <a:prstGeom prst="rect">
            <a:avLst/>
          </a:prstGeom>
          <a:noFill/>
          <a:ln/>
        </p:spPr>
        <p:txBody>
          <a:bodyPr wrap="square" lIns="0" tIns="0" rIns="0" bIns="0" rtlCol="0" anchor="ctr"/>
          <a:lstStyle/>
          <a:p>
            <a:pPr algn="ctr" indent="0" marL="0">
              <a:buNone/>
            </a:pPr>
            <a:r>
              <a:rPr lang="en-US" sz="1300" b="1" dirty="0">
                <a:solidFill>
                  <a:srgbClr val="1B1B1B"/>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097280" y="3163824"/>
            <a:ext cx="4663440" cy="45720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Re-render the TRL / SBIR badge card (Shot 17)</a:t>
            </a:r>
            <a:endParaRPr lang="en-US" sz="1250" dirty="0"/>
          </a:p>
        </p:txBody>
      </p:sp>
      <p:sp>
        <p:nvSpPr>
          <p:cNvPr id="15" name="Text 13"/>
          <p:cNvSpPr/>
          <p:nvPr/>
        </p:nvSpPr>
        <p:spPr>
          <a:xfrm>
            <a:off x="5897880" y="3163824"/>
            <a:ext cx="5760720" cy="731520"/>
          </a:xfrm>
          <a:prstGeom prst="rect">
            <a:avLst/>
          </a:prstGeom>
          <a:noFill/>
          <a:ln/>
        </p:spPr>
        <p:txBody>
          <a:bodyPr wrap="square" lIns="0" tIns="0" rIns="0" bIns="0" rtlCol="0" anchor="ctr"/>
          <a:lstStyle/>
          <a:p>
            <a:pPr indent="0" marL="0">
              <a:lnSpc>
                <a:spcPts val="1250"/>
              </a:lnSpc>
              <a:buNone/>
            </a:pPr>
            <a:r>
              <a:rPr lang="en-US" sz="1000" dirty="0">
                <a:solidFill>
                  <a:srgbClr val="B9C4BF"/>
                </a:solidFill>
                <a:latin typeface="Calibri" pitchFamily="34" charset="0"/>
                <a:ea typeface="Calibri" pitchFamily="34" charset="-122"/>
                <a:cs typeface="Calibri" pitchFamily="34" charset="-120"/>
              </a:rPr>
              <a:t>TRL reads 5-6. Remove "subscription-based" from the card.</a:t>
            </a:r>
            <a:endParaRPr lang="en-US" sz="1000" dirty="0"/>
          </a:p>
        </p:txBody>
      </p:sp>
      <p:sp>
        <p:nvSpPr>
          <p:cNvPr id="16" name="Shape 14"/>
          <p:cNvSpPr/>
          <p:nvPr/>
        </p:nvSpPr>
        <p:spPr>
          <a:xfrm>
            <a:off x="548640" y="3995928"/>
            <a:ext cx="365760" cy="365760"/>
          </a:xfrm>
          <a:prstGeom prst="ellipse">
            <a:avLst/>
          </a:prstGeom>
          <a:solidFill>
            <a:srgbClr val="93D500"/>
          </a:solidFill>
          <a:ln/>
        </p:spPr>
      </p:sp>
      <p:sp>
        <p:nvSpPr>
          <p:cNvPr id="17" name="Text 15"/>
          <p:cNvSpPr/>
          <p:nvPr/>
        </p:nvSpPr>
        <p:spPr>
          <a:xfrm>
            <a:off x="548640" y="3995928"/>
            <a:ext cx="365760" cy="365760"/>
          </a:xfrm>
          <a:prstGeom prst="rect">
            <a:avLst/>
          </a:prstGeom>
          <a:noFill/>
          <a:ln/>
        </p:spPr>
        <p:txBody>
          <a:bodyPr wrap="square" lIns="0" tIns="0" rIns="0" bIns="0" rtlCol="0" anchor="ctr"/>
          <a:lstStyle/>
          <a:p>
            <a:pPr algn="ctr" indent="0" marL="0">
              <a:buNone/>
            </a:pPr>
            <a:r>
              <a:rPr lang="en-US" sz="1300" b="1" dirty="0">
                <a:solidFill>
                  <a:srgbClr val="1B1B1B"/>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097280" y="3959352"/>
            <a:ext cx="4663440" cy="45720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Re-render the closing CTA card (Shot 19)</a:t>
            </a:r>
            <a:endParaRPr lang="en-US" sz="1250" dirty="0"/>
          </a:p>
        </p:txBody>
      </p:sp>
      <p:sp>
        <p:nvSpPr>
          <p:cNvPr id="19" name="Text 17"/>
          <p:cNvSpPr/>
          <p:nvPr/>
        </p:nvSpPr>
        <p:spPr>
          <a:xfrm>
            <a:off x="5897880" y="3959352"/>
            <a:ext cx="5760720" cy="731520"/>
          </a:xfrm>
          <a:prstGeom prst="rect">
            <a:avLst/>
          </a:prstGeom>
          <a:noFill/>
          <a:ln/>
        </p:spPr>
        <p:txBody>
          <a:bodyPr wrap="square" lIns="0" tIns="0" rIns="0" bIns="0" rtlCol="0" anchor="ctr"/>
          <a:lstStyle/>
          <a:p>
            <a:pPr indent="0" marL="0">
              <a:lnSpc>
                <a:spcPts val="1250"/>
              </a:lnSpc>
              <a:buNone/>
            </a:pPr>
            <a:r>
              <a:rPr lang="en-US" sz="1000" dirty="0">
                <a:solidFill>
                  <a:srgbClr val="B9C4BF"/>
                </a:solidFill>
                <a:latin typeface="Calibri" pitchFamily="34" charset="0"/>
                <a:ea typeface="Calibri" pitchFamily="34" charset="-122"/>
                <a:cs typeface="Calibri" pitchFamily="34" charset="-120"/>
              </a:rPr>
              <a:t>Aisle name reads "CDAO Tradewinds Solutions Marketplace, SBIR/STTR Aisle". Named POC and email replace the placeholder.</a:t>
            </a:r>
            <a:endParaRPr lang="en-US" sz="1000" dirty="0"/>
          </a:p>
        </p:txBody>
      </p:sp>
      <p:sp>
        <p:nvSpPr>
          <p:cNvPr id="20" name="Shape 18"/>
          <p:cNvSpPr/>
          <p:nvPr/>
        </p:nvSpPr>
        <p:spPr>
          <a:xfrm>
            <a:off x="548640" y="4791456"/>
            <a:ext cx="365760" cy="365760"/>
          </a:xfrm>
          <a:prstGeom prst="ellipse">
            <a:avLst/>
          </a:prstGeom>
          <a:solidFill>
            <a:srgbClr val="93D500"/>
          </a:solidFill>
          <a:ln/>
        </p:spPr>
      </p:sp>
      <p:sp>
        <p:nvSpPr>
          <p:cNvPr id="21" name="Text 19"/>
          <p:cNvSpPr/>
          <p:nvPr/>
        </p:nvSpPr>
        <p:spPr>
          <a:xfrm>
            <a:off x="548640" y="4791456"/>
            <a:ext cx="365760" cy="365760"/>
          </a:xfrm>
          <a:prstGeom prst="rect">
            <a:avLst/>
          </a:prstGeom>
          <a:noFill/>
          <a:ln/>
        </p:spPr>
        <p:txBody>
          <a:bodyPr wrap="square" lIns="0" tIns="0" rIns="0" bIns="0" rtlCol="0" anchor="ctr"/>
          <a:lstStyle/>
          <a:p>
            <a:pPr algn="ctr" indent="0" marL="0">
              <a:buNone/>
            </a:pPr>
            <a:r>
              <a:rPr lang="en-US" sz="1300" b="1" dirty="0">
                <a:solidFill>
                  <a:srgbClr val="1B1B1B"/>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097280" y="4754880"/>
            <a:ext cx="4663440" cy="45720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Re-render every master at 23.976 fps</a:t>
            </a:r>
            <a:endParaRPr lang="en-US" sz="1250" dirty="0"/>
          </a:p>
        </p:txBody>
      </p:sp>
      <p:sp>
        <p:nvSpPr>
          <p:cNvPr id="23" name="Text 21"/>
          <p:cNvSpPr/>
          <p:nvPr/>
        </p:nvSpPr>
        <p:spPr>
          <a:xfrm>
            <a:off x="5897880" y="4754880"/>
            <a:ext cx="5760720" cy="731520"/>
          </a:xfrm>
          <a:prstGeom prst="rect">
            <a:avLst/>
          </a:prstGeom>
          <a:noFill/>
          <a:ln/>
        </p:spPr>
        <p:txBody>
          <a:bodyPr wrap="square" lIns="0" tIns="0" rIns="0" bIns="0" rtlCol="0" anchor="ctr"/>
          <a:lstStyle/>
          <a:p>
            <a:pPr indent="0" marL="0">
              <a:lnSpc>
                <a:spcPts val="1250"/>
              </a:lnSpc>
              <a:buNone/>
            </a:pPr>
            <a:r>
              <a:rPr lang="en-US" sz="1000" dirty="0">
                <a:solidFill>
                  <a:srgbClr val="B9C4BF"/>
                </a:solidFill>
                <a:latin typeface="Calibri" pitchFamily="34" charset="0"/>
                <a:ea typeface="Calibri" pitchFamily="34" charset="-122"/>
                <a:cs typeface="Calibri" pitchFamily="34" charset="-120"/>
              </a:rPr>
              <a:t>The spec is 23.98 FPS. All v1 masters are 30 fps and off-spec. Build scripts are corrected; verify the output frame rate on the first rebuild.</a:t>
            </a:r>
            <a:endParaRPr lang="en-US" sz="1000" dirty="0"/>
          </a:p>
        </p:txBody>
      </p:sp>
      <p:sp>
        <p:nvSpPr>
          <p:cNvPr id="24" name="Shape 22"/>
          <p:cNvSpPr/>
          <p:nvPr/>
        </p:nvSpPr>
        <p:spPr>
          <a:xfrm>
            <a:off x="548640" y="5586984"/>
            <a:ext cx="365760" cy="365760"/>
          </a:xfrm>
          <a:prstGeom prst="ellipse">
            <a:avLst/>
          </a:prstGeom>
          <a:solidFill>
            <a:srgbClr val="93D500"/>
          </a:solidFill>
          <a:ln/>
        </p:spPr>
      </p:sp>
      <p:sp>
        <p:nvSpPr>
          <p:cNvPr id="25" name="Text 23"/>
          <p:cNvSpPr/>
          <p:nvPr/>
        </p:nvSpPr>
        <p:spPr>
          <a:xfrm>
            <a:off x="548640" y="5586984"/>
            <a:ext cx="365760" cy="365760"/>
          </a:xfrm>
          <a:prstGeom prst="rect">
            <a:avLst/>
          </a:prstGeom>
          <a:noFill/>
          <a:ln/>
        </p:spPr>
        <p:txBody>
          <a:bodyPr wrap="square" lIns="0" tIns="0" rIns="0" bIns="0" rtlCol="0" anchor="ctr"/>
          <a:lstStyle/>
          <a:p>
            <a:pPr algn="ctr" indent="0" marL="0">
              <a:buNone/>
            </a:pPr>
            <a:r>
              <a:rPr lang="en-US" sz="1300" b="1" dirty="0">
                <a:solidFill>
                  <a:srgbClr val="1B1B1B"/>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1097280" y="5550408"/>
            <a:ext cx="4663440" cy="457200"/>
          </a:xfrm>
          <a:prstGeom prst="rect">
            <a:avLst/>
          </a:prstGeom>
          <a:noFill/>
          <a:ln/>
        </p:spPr>
        <p:txBody>
          <a:bodyPr wrap="square" lIns="0" tIns="0" rIns="0" bIns="0"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Re-shoot the reference stills</a:t>
            </a:r>
            <a:endParaRPr lang="en-US" sz="1250" dirty="0"/>
          </a:p>
        </p:txBody>
      </p:sp>
      <p:sp>
        <p:nvSpPr>
          <p:cNvPr id="27" name="Text 25"/>
          <p:cNvSpPr/>
          <p:nvPr/>
        </p:nvSpPr>
        <p:spPr>
          <a:xfrm>
            <a:off x="5897880" y="5550408"/>
            <a:ext cx="5760720" cy="731520"/>
          </a:xfrm>
          <a:prstGeom prst="rect">
            <a:avLst/>
          </a:prstGeom>
          <a:noFill/>
          <a:ln/>
        </p:spPr>
        <p:txBody>
          <a:bodyPr wrap="square" lIns="0" tIns="0" rIns="0" bIns="0" rtlCol="0" anchor="ctr"/>
          <a:lstStyle/>
          <a:p>
            <a:pPr indent="0" marL="0">
              <a:lnSpc>
                <a:spcPts val="1250"/>
              </a:lnSpc>
              <a:buNone/>
            </a:pPr>
            <a:r>
              <a:rPr lang="en-US" sz="1000" dirty="0">
                <a:solidFill>
                  <a:srgbClr val="B9C4BF"/>
                </a:solidFill>
                <a:latin typeface="Calibri" pitchFamily="34" charset="0"/>
                <a:ea typeface="Calibri" pitchFamily="34" charset="-122"/>
                <a:cs typeface="Calibri" pitchFamily="34" charset="-120"/>
              </a:rPr>
              <a:t>The strip frames in docs/video-frames and docs/demo-walkthrough still show OSW Comptroller and the subscription strip.</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31863E"/>
                </a:solidFill>
                <a:latin typeface="Calibri" pitchFamily="34" charset="0"/>
                <a:ea typeface="Calibri" pitchFamily="34" charset="-122"/>
                <a:cs typeface="Calibri" pitchFamily="34" charset="-120"/>
              </a:rPr>
              <a:t>BEFORE THE RE-RECORD</a:t>
            </a:r>
            <a:endParaRPr lang="en-US" sz="1100" dirty="0"/>
          </a:p>
        </p:txBody>
      </p:sp>
      <p:sp>
        <p:nvSpPr>
          <p:cNvPr id="3" name="Text 1"/>
          <p:cNvSpPr/>
          <p:nvPr/>
        </p:nvSpPr>
        <p:spPr>
          <a:xfrm>
            <a:off x="548640" y="658368"/>
            <a:ext cx="11064240" cy="548640"/>
          </a:xfrm>
          <a:prstGeom prst="rect">
            <a:avLst/>
          </a:prstGeom>
          <a:noFill/>
          <a:ln/>
        </p:spPr>
        <p:txBody>
          <a:bodyPr wrap="square" lIns="0" tIns="0" rIns="0" bIns="0" rtlCol="0" anchor="ctr"/>
          <a:lstStyle/>
          <a:p>
            <a:pPr indent="0" marL="0">
              <a:buNone/>
            </a:pPr>
            <a:r>
              <a:rPr lang="en-US" sz="3200" b="1" dirty="0">
                <a:solidFill>
                  <a:srgbClr val="1B1B1B"/>
                </a:solidFill>
                <a:latin typeface="Cambria" pitchFamily="34" charset="0"/>
                <a:ea typeface="Cambria" pitchFamily="34" charset="-122"/>
                <a:cs typeface="Cambria" pitchFamily="34" charset="-120"/>
              </a:rPr>
              <a:t>Six decisions that need a person</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548640"/>
                <a:gridCol w="3200400"/>
                <a:gridCol w="5669280"/>
                <a:gridCol w="1828800"/>
              </a:tblGrid>
              <a:tr h="566928">
                <a:tc>
                  <a:txBody>
                    <a:bodyPr/>
                    <a:lstStyle/>
                    <a:p>
                      <a:pPr indent="0" marL="0">
                        <a:buNone/>
                      </a:pP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OWNER</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1B1B1B"/>
                    </a:solidFill>
                  </a:tcPr>
                </a:tc>
              </a:tr>
              <a:tr h="566928">
                <a:tc>
                  <a:txBody>
                    <a:bodyPr/>
                    <a:lstStyle/>
                    <a:p>
                      <a:pPr algn="ctr" indent="0" marL="0">
                        <a:buNone/>
                      </a:pPr>
                      <a:r>
                        <a:rPr lang="en-US" sz="1300" b="1" dirty="0">
                          <a:solidFill>
                            <a:srgbClr val="31863E"/>
                          </a:solidFill>
                          <a:latin typeface="Cambria" pitchFamily="34" charset="0"/>
                          <a:ea typeface="Cambria" pitchFamily="34" charset="-122"/>
                          <a:cs typeface="Cambria" pitchFamily="34" charset="-120"/>
                        </a:rPr>
                        <a:t>A</a:t>
                      </a:r>
                      <a:endParaRPr lang="en-US" sz="1300" dirty="0">
                        <a:latin typeface="Cambria" charset="0"/>
                        <a:ea typeface="Cambria" charset="0"/>
                        <a:cs typeface="Cambria"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Are the Army and ATC cleared to name on screen?</a:t>
                      </a:r>
                      <a:endParaRPr lang="en-US" sz="10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950" dirty="0">
                          <a:solidFill>
                            <a:srgbClr val="5A6568"/>
                          </a:solidFill>
                          <a:latin typeface="Calibri" pitchFamily="34" charset="0"/>
                          <a:ea typeface="Calibri" pitchFamily="34" charset="-122"/>
                          <a:cs typeface="Calibri" pitchFamily="34" charset="-120"/>
                        </a:rPr>
                        <a:t>Removing OSW leaves a two-client claim. If the reason was clearance rather than accuracy, the other two may carry the same issue.</a:t>
                      </a:r>
                      <a:endParaRPr lang="en-US" sz="9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Angel / Bizrat</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566928">
                <a:tc>
                  <a:txBody>
                    <a:bodyPr/>
                    <a:lstStyle/>
                    <a:p>
                      <a:pPr algn="ctr" indent="0" marL="0">
                        <a:buNone/>
                      </a:pPr>
                      <a:r>
                        <a:rPr lang="en-US" sz="1300" b="1" dirty="0">
                          <a:solidFill>
                            <a:srgbClr val="31863E"/>
                          </a:solidFill>
                          <a:latin typeface="Cambria" pitchFamily="34" charset="0"/>
                          <a:ea typeface="Cambria" pitchFamily="34" charset="-122"/>
                          <a:cs typeface="Cambria" pitchFamily="34" charset="-120"/>
                        </a:rPr>
                        <a:t>B</a:t>
                      </a:r>
                      <a:endParaRPr lang="en-US" sz="1300" dirty="0">
                        <a:latin typeface="Cambria" charset="0"/>
                        <a:ea typeface="Cambria" charset="0"/>
                        <a:cs typeface="Cambria"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Business model: put one clause back?</a:t>
                      </a:r>
                      <a:endParaRPr lang="en-US" sz="10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950" dirty="0">
                          <a:solidFill>
                            <a:srgbClr val="5A6568"/>
                          </a:solidFill>
                          <a:latin typeface="Calibri" pitchFamily="34" charset="0"/>
                          <a:ea typeface="Calibri" pitchFamily="34" charset="-122"/>
                          <a:cs typeface="Calibri" pitchFamily="34" charset="-120"/>
                        </a:rPr>
                        <a:t>The element asks us to describe how the model works. The removed line described structure, not price, and carried no rates. Recommend one unpriced clause in Shot 18.</a:t>
                      </a:r>
                      <a:endParaRPr lang="en-US" sz="9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Angel</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r h="566928">
                <a:tc>
                  <a:txBody>
                    <a:bodyPr/>
                    <a:lstStyle/>
                    <a:p>
                      <a:pPr algn="ctr" indent="0" marL="0">
                        <a:buNone/>
                      </a:pPr>
                      <a:r>
                        <a:rPr lang="en-US" sz="1300" b="1" dirty="0">
                          <a:solidFill>
                            <a:srgbClr val="31863E"/>
                          </a:solidFill>
                          <a:latin typeface="Cambria" pitchFamily="34" charset="0"/>
                          <a:ea typeface="Cambria" pitchFamily="34" charset="-122"/>
                          <a:cs typeface="Cambria" pitchFamily="34" charset="-120"/>
                        </a:rPr>
                        <a:t>C</a:t>
                      </a:r>
                      <a:endParaRPr lang="en-US" sz="1300" dirty="0">
                        <a:latin typeface="Cambria" charset="0"/>
                        <a:ea typeface="Cambria" charset="0"/>
                        <a:cs typeface="Cambria"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POC name, email, and an alternate</a:t>
                      </a:r>
                      <a:endParaRPr lang="en-US" sz="10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950" dirty="0">
                          <a:solidFill>
                            <a:srgbClr val="5A6568"/>
                          </a:solidFill>
                          <a:latin typeface="Calibri" pitchFamily="34" charset="0"/>
                          <a:ea typeface="Calibri" pitchFamily="34" charset="-122"/>
                          <a:cs typeface="Calibri" pitchFamily="34" charset="-120"/>
                        </a:rPr>
                        <a:t>The card cannot ship with a placeholder. The package also asks for a responsive contact reachable directly.</a:t>
                      </a:r>
                      <a:endParaRPr lang="en-US" sz="9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Bizrat / Angel</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566928">
                <a:tc>
                  <a:txBody>
                    <a:bodyPr/>
                    <a:lstStyle/>
                    <a:p>
                      <a:pPr algn="ctr" indent="0" marL="0">
                        <a:buNone/>
                      </a:pPr>
                      <a:r>
                        <a:rPr lang="en-US" sz="1300" b="1" dirty="0">
                          <a:solidFill>
                            <a:srgbClr val="31863E"/>
                          </a:solidFill>
                          <a:latin typeface="Cambria" pitchFamily="34" charset="0"/>
                          <a:ea typeface="Cambria" pitchFamily="34" charset="-122"/>
                          <a:cs typeface="Cambria" pitchFamily="34" charset="-120"/>
                        </a:rPr>
                        <a:t>D</a:t>
                      </a:r>
                      <a:endParaRPr lang="en-US" sz="1300" dirty="0">
                        <a:latin typeface="Cambria" charset="0"/>
                        <a:ea typeface="Cambria" charset="0"/>
                        <a:cs typeface="Cambria"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Send the approved PPBE video</a:t>
                      </a:r>
                      <a:endParaRPr lang="en-US" sz="10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950" dirty="0">
                          <a:solidFill>
                            <a:srgbClr val="5A6568"/>
                          </a:solidFill>
                          <a:latin typeface="Calibri" pitchFamily="34" charset="0"/>
                          <a:ea typeface="Calibri" pitchFamily="34" charset="-122"/>
                          <a:cs typeface="Calibri" pitchFamily="34" charset="-120"/>
                        </a:rPr>
                        <a:t>Needed for the cadence and narration pass. Best done once, after the content above is settled.</a:t>
                      </a:r>
                      <a:endParaRPr lang="en-US" sz="9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Angel</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r h="566928">
                <a:tc>
                  <a:txBody>
                    <a:bodyPr/>
                    <a:lstStyle/>
                    <a:p>
                      <a:pPr algn="ctr" indent="0" marL="0">
                        <a:buNone/>
                      </a:pPr>
                      <a:r>
                        <a:rPr lang="en-US" sz="1300" b="1" dirty="0">
                          <a:solidFill>
                            <a:srgbClr val="31863E"/>
                          </a:solidFill>
                          <a:latin typeface="Cambria" pitchFamily="34" charset="0"/>
                          <a:ea typeface="Cambria" pitchFamily="34" charset="-122"/>
                          <a:cs typeface="Cambria" pitchFamily="34" charset="-120"/>
                        </a:rPr>
                        <a:t>E</a:t>
                      </a:r>
                      <a:endParaRPr lang="en-US" sz="1300" dirty="0">
                        <a:latin typeface="Cambria" charset="0"/>
                        <a:ea typeface="Cambria" charset="0"/>
                        <a:cs typeface="Cambria"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Confirm TRL 5-6</a:t>
                      </a:r>
                      <a:endParaRPr lang="en-US" sz="10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950" dirty="0">
                          <a:solidFill>
                            <a:srgbClr val="5A6568"/>
                          </a:solidFill>
                          <a:latin typeface="Calibri" pitchFamily="34" charset="0"/>
                          <a:ea typeface="Calibri" pitchFamily="34" charset="-122"/>
                          <a:cs typeface="Calibri" pitchFamily="34" charset="-120"/>
                        </a:rPr>
                        <a:t>The badge already shows it, and the business model and the TRL are required to align.</a:t>
                      </a:r>
                      <a:endParaRPr lang="en-US" sz="9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Sean / Angel</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1F5F3"/>
                    </a:solidFill>
                  </a:tcPr>
                </a:tc>
              </a:tr>
              <a:tr h="566928">
                <a:tc>
                  <a:txBody>
                    <a:bodyPr/>
                    <a:lstStyle/>
                    <a:p>
                      <a:pPr algn="ctr" indent="0" marL="0">
                        <a:buNone/>
                      </a:pPr>
                      <a:r>
                        <a:rPr lang="en-US" sz="1300" b="1" dirty="0">
                          <a:solidFill>
                            <a:srgbClr val="31863E"/>
                          </a:solidFill>
                          <a:latin typeface="Cambria" pitchFamily="34" charset="0"/>
                          <a:ea typeface="Cambria" pitchFamily="34" charset="-122"/>
                          <a:cs typeface="Cambria" pitchFamily="34" charset="-120"/>
                        </a:rPr>
                        <a:t>F</a:t>
                      </a:r>
                      <a:endParaRPr lang="en-US" sz="1300" dirty="0">
                        <a:latin typeface="Cambria" charset="0"/>
                        <a:ea typeface="Cambria" charset="0"/>
                        <a:cs typeface="Cambria"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50" b="1" dirty="0">
                          <a:solidFill>
                            <a:srgbClr val="1B1B1B"/>
                          </a:solidFill>
                          <a:latin typeface="Calibri" pitchFamily="34" charset="0"/>
                          <a:ea typeface="Calibri" pitchFamily="34" charset="-122"/>
                          <a:cs typeface="Calibri" pitchFamily="34" charset="-120"/>
                        </a:rPr>
                        <a:t>Re-render all masters at 23.976 fps</a:t>
                      </a:r>
                      <a:endParaRPr lang="en-US" sz="10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950" dirty="0">
                          <a:solidFill>
                            <a:srgbClr val="5A6568"/>
                          </a:solidFill>
                          <a:latin typeface="Calibri" pitchFamily="34" charset="0"/>
                          <a:ea typeface="Calibri" pitchFamily="34" charset="-122"/>
                          <a:cs typeface="Calibri" pitchFamily="34" charset="-120"/>
                        </a:rPr>
                        <a:t>The v1 renders are 30 fps and off-spec.</a:t>
                      </a:r>
                      <a:endParaRPr lang="en-US" sz="95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B"/>
                          </a:solidFill>
                          <a:latin typeface="Calibri" pitchFamily="34" charset="0"/>
                          <a:ea typeface="Calibri" pitchFamily="34" charset="-122"/>
                          <a:cs typeface="Calibri" pitchFamily="34" charset="-120"/>
                        </a:rPr>
                        <a:t>Jeff</a:t>
                      </a:r>
                      <a:endParaRPr lang="en-US" sz="1000" dirty="0">
                        <a:latin typeface="Calibri" charset="0"/>
                        <a:ea typeface="Calibri" charset="0"/>
                        <a:cs typeface="Calibri" charset="0"/>
                      </a:endParaRPr>
                    </a:p>
                  </a:txBody>
                  <a:tcPr marL="73152" marR="73152" marT="73152" marB="73152" anchor="ctr">
                    <a:lnL w="12700" cap="flat" cmpd="sng" algn="ctr">
                      <a:solidFill>
                        <a:srgbClr val="D8DEDB"/>
                      </a:solidFill>
                      <a:prstDash val="solid"/>
                      <a:round/>
                      <a:headEnd type="none" w="med" len="med"/>
                      <a:tailEnd type="none" w="med" len="med"/>
                    </a:lnL>
                    <a:lnR w="12700" cap="flat" cmpd="sng" algn="ctr">
                      <a:solidFill>
                        <a:srgbClr val="D8DEDB"/>
                      </a:solidFill>
                      <a:prstDash val="solid"/>
                      <a:round/>
                      <a:headEnd type="none" w="med" len="med"/>
                      <a:tailEnd type="none" w="med" len="med"/>
                    </a:lnR>
                    <a:lnT w="12700" cap="flat" cmpd="sng" algn="ctr">
                      <a:solidFill>
                        <a:srgbClr val="D8DEDB"/>
                      </a:solidFill>
                      <a:prstDash val="solid"/>
                      <a:round/>
                      <a:headEnd type="none" w="med" len="med"/>
                      <a:tailEnd type="none" w="med" len="med"/>
                    </a:lnT>
                    <a:lnB w="12700" cap="flat" cmpd="sng" algn="ctr">
                      <a:solidFill>
                        <a:srgbClr val="D8DEDB"/>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19088"/>
            <a:ext cx="7772400" cy="274320"/>
          </a:xfrm>
          <a:prstGeom prst="rect">
            <a:avLst/>
          </a:prstGeom>
          <a:noFill/>
          <a:ln/>
        </p:spPr>
        <p:txBody>
          <a:bodyPr wrap="square" lIns="0" tIns="0" rIns="0" bIns="0" rtlCol="0" anchor="ctr"/>
          <a:lstStyle/>
          <a:p>
            <a:pPr indent="0" marL="0">
              <a:buNone/>
            </a:pPr>
            <a:r>
              <a:rPr lang="en-US" sz="900" dirty="0">
                <a:solidFill>
                  <a:srgbClr val="5A6568"/>
                </a:solidFill>
                <a:latin typeface="Calibri" pitchFamily="34" charset="0"/>
                <a:ea typeface="Calibri" pitchFamily="34" charset="-122"/>
                <a:cs typeface="Calibri" pitchFamily="34" charset="-120"/>
              </a:rPr>
              <a:t>FM of the Future  |  Tradewinds submission video  |  Storyboard Rev 2</a:t>
            </a:r>
            <a:endParaRPr lang="en-US" sz="900" dirty="0"/>
          </a:p>
        </p:txBody>
      </p:sp>
      <p:sp>
        <p:nvSpPr>
          <p:cNvPr id="6" name="Text 3"/>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5A65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 of the Future - Tradewinds Video Storyboard Rev 2</dc:title>
  <dc:subject>PptxGenJS Presentation</dc:subject>
  <dc:creator>Guidehouse</dc:creator>
  <cp:lastModifiedBy>Guidehouse</cp:lastModifiedBy>
  <cp:revision>1</cp:revision>
  <dcterms:created xsi:type="dcterms:W3CDTF">2026-07-30T15:13:08Z</dcterms:created>
  <dcterms:modified xsi:type="dcterms:W3CDTF">2026-07-30T15:13:08Z</dcterms:modified>
</cp:coreProperties>
</file>
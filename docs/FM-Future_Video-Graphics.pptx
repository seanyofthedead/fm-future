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1 | 0:00-0:08 | 8s | Element 1, Defining the Problem.
VO: "We're Guidehouse, and we're here to show you how we're solving one of the hardest problems in federal financial management."
Produced cold open. No on-camera presenter.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3 | 0:28-0:46 | 18s | Element 1, applicability and impact.
VO: "The cost shows up everywhere, in cycle time, in audit findings, and in analysts who spend their week searching shared drives instead of doing real analysis..."
Motion: three cost icons, then widen from one desk to a grid of agencies. Transition lifts from desaturated into the brand palette.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17 | 3:52-4:10 | 18s | Element 4, Business Model and TRL.
VO: "The business model is built for fast adoption: a mature, deployable product at Technology Readiness Level five to six, validated in a relevant environment. We acquired the AFRL SBIR topic, and as successor-in-interest Guidehouse is eligible for SBIR Phase Three award, sole-source, in weeks, not years."
PRONUNCIATION: SBIR is said as a word, "SY-ber". Never spelled out. Say "Phase Three", not "Phase I-I-I".
Motion: acquired SBIR topic, then the Phase III badge, then the sole-source chip. Three-icon row resolves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19 | 4:20-4:34 | 14s | Close, call to action.
VO: "Find Financial Management of the Future on the CDAO Tradewinds Solutions Marketplace, in the SBIR Aisle. Bring your hardest reconciliation and your messiest records, we'll show you what the agents do with them."
PRONUNCIATION: reads "the SY-ber aisle". The aisle is the SBIR/STTR Aisle; there is no "Silver Aisle".
TO FILL BEFORE RENDER: named point of contact, email and phone, plus an alternate POC. Swap the placeholder square for the marketplace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20 | 4:34-4:41 | 7s | Close.
VO: "Guidehouse. Mission-ready innovation, audit-ready every day."
Final logo lockup on the brand background, fade to black. Optional short audio 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921240" y="548640"/>
            <a:ext cx="324964" cy="384048"/>
          </a:xfrm>
          <a:prstGeom prst="rect">
            <a:avLst/>
          </a:prstGeom>
        </p:spPr>
      </p:pic>
      <p:sp>
        <p:nvSpPr>
          <p:cNvPr id="3" name="Text 0"/>
          <p:cNvSpPr/>
          <p:nvPr/>
        </p:nvSpPr>
        <p:spPr>
          <a:xfrm>
            <a:off x="10355932" y="521208"/>
            <a:ext cx="1554480" cy="438912"/>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Guidehouse</a:t>
            </a:r>
            <a:endParaRPr lang="en-US" sz="1900" dirty="0"/>
          </a:p>
        </p:txBody>
      </p:sp>
      <p:sp>
        <p:nvSpPr>
          <p:cNvPr id="4" name="Text 1"/>
          <p:cNvSpPr/>
          <p:nvPr/>
        </p:nvSpPr>
        <p:spPr>
          <a:xfrm>
            <a:off x="777240" y="1965960"/>
            <a:ext cx="9601200" cy="1920240"/>
          </a:xfrm>
          <a:prstGeom prst="rect">
            <a:avLst/>
          </a:prstGeom>
          <a:noFill/>
          <a:ln/>
        </p:spPr>
        <p:txBody>
          <a:bodyPr wrap="square" lIns="0" tIns="0" rIns="0" bIns="0" rtlCol="0" anchor="ctr"/>
          <a:lstStyle/>
          <a:p>
            <a:pPr indent="0" marL="0">
              <a:lnSpc>
                <a:spcPts val="6600"/>
              </a:lnSpc>
              <a:buNone/>
            </a:pPr>
            <a:r>
              <a:rPr lang="en-US" sz="5800" dirty="0">
                <a:solidFill>
                  <a:srgbClr val="FFFFFF"/>
                </a:solidFill>
                <a:latin typeface="Calibri" pitchFamily="34" charset="0"/>
                <a:ea typeface="Calibri" pitchFamily="34" charset="-122"/>
                <a:cs typeface="Calibri" pitchFamily="34" charset="-120"/>
              </a:rPr>
              <a:t>Financial Management
</a:t>
            </a:r>
            <a:pPr indent="0" marL="0">
              <a:lnSpc>
                <a:spcPts val="6600"/>
              </a:lnSpc>
              <a:buNone/>
            </a:pPr>
            <a:r>
              <a:rPr lang="en-US" sz="5800" b="1" dirty="0">
                <a:solidFill>
                  <a:srgbClr val="FFFFFF"/>
                </a:solidFill>
                <a:latin typeface="Calibri" pitchFamily="34" charset="0"/>
                <a:ea typeface="Calibri" pitchFamily="34" charset="-122"/>
                <a:cs typeface="Calibri" pitchFamily="34" charset="-120"/>
              </a:rPr>
              <a:t>of the Future</a:t>
            </a:r>
            <a:endParaRPr lang="en-US" sz="5800" dirty="0"/>
          </a:p>
        </p:txBody>
      </p:sp>
      <p:sp>
        <p:nvSpPr>
          <p:cNvPr id="5" name="Text 2"/>
          <p:cNvSpPr/>
          <p:nvPr/>
        </p:nvSpPr>
        <p:spPr>
          <a:xfrm>
            <a:off x="777240" y="4069080"/>
            <a:ext cx="8229600" cy="548640"/>
          </a:xfrm>
          <a:prstGeom prst="rect">
            <a:avLst/>
          </a:prstGeom>
          <a:noFill/>
          <a:ln/>
        </p:spPr>
        <p:txBody>
          <a:bodyPr wrap="square" lIns="0" tIns="0" rIns="0" bIns="0" rtlCol="0" anchor="ctr"/>
          <a:lstStyle/>
          <a:p>
            <a:pPr indent="0" marL="0">
              <a:buNone/>
            </a:pPr>
            <a:r>
              <a:rPr lang="en-US" sz="2600" dirty="0">
                <a:solidFill>
                  <a:srgbClr val="93D500"/>
                </a:solidFill>
                <a:latin typeface="Calibri" pitchFamily="34" charset="0"/>
                <a:ea typeface="Calibri" pitchFamily="34" charset="-122"/>
                <a:cs typeface="Calibri" pitchFamily="34" charset="-120"/>
              </a:rPr>
              <a:t>Audit-ready, every day.</a:t>
            </a:r>
            <a:endParaRPr lang="en-US" sz="2600" dirty="0"/>
          </a:p>
        </p:txBody>
      </p:sp>
      <p:sp>
        <p:nvSpPr>
          <p:cNvPr id="6" name="Text 3"/>
          <p:cNvSpPr/>
          <p:nvPr/>
        </p:nvSpPr>
        <p:spPr>
          <a:xfrm>
            <a:off x="777240" y="4800600"/>
            <a:ext cx="8686800" cy="457200"/>
          </a:xfrm>
          <a:prstGeom prst="rect">
            <a:avLst/>
          </a:prstGeom>
          <a:noFill/>
          <a:ln/>
        </p:spPr>
        <p:txBody>
          <a:bodyPr wrap="square" lIns="0" tIns="0" rIns="0" bIns="0" rtlCol="0" anchor="ctr"/>
          <a:lstStyle/>
          <a:p>
            <a:pPr indent="0" marL="0">
              <a:buNone/>
            </a:pPr>
            <a:r>
              <a:rPr lang="en-US" sz="1600" dirty="0">
                <a:solidFill>
                  <a:srgbClr val="9BA39C"/>
                </a:solidFill>
                <a:latin typeface="Calibri" pitchFamily="34" charset="0"/>
                <a:ea typeface="Calibri" pitchFamily="34" charset="-122"/>
                <a:cs typeface="Calibri" pitchFamily="34" charset="-120"/>
              </a:rPr>
              <a:t>Solving one of the hardest problems in federal financial management.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921240" y="548640"/>
            <a:ext cx="324964" cy="384048"/>
          </a:xfrm>
          <a:prstGeom prst="rect">
            <a:avLst/>
          </a:prstGeom>
        </p:spPr>
      </p:pic>
      <p:sp>
        <p:nvSpPr>
          <p:cNvPr id="3" name="Text 0"/>
          <p:cNvSpPr/>
          <p:nvPr/>
        </p:nvSpPr>
        <p:spPr>
          <a:xfrm>
            <a:off x="10355932" y="521208"/>
            <a:ext cx="1554480" cy="438912"/>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Guidehouse</a:t>
            </a:r>
            <a:endParaRPr lang="en-US" sz="1900" dirty="0"/>
          </a:p>
        </p:txBody>
      </p:sp>
      <p:sp>
        <p:nvSpPr>
          <p:cNvPr id="4" name="Text 1"/>
          <p:cNvSpPr/>
          <p:nvPr/>
        </p:nvSpPr>
        <p:spPr>
          <a:xfrm>
            <a:off x="777240" y="566928"/>
            <a:ext cx="7315200" cy="274320"/>
          </a:xfrm>
          <a:prstGeom prst="rect">
            <a:avLst/>
          </a:prstGeom>
          <a:noFill/>
          <a:ln/>
        </p:spPr>
        <p:txBody>
          <a:bodyPr wrap="square" lIns="0" tIns="0" rIns="0" bIns="0" rtlCol="0" anchor="ctr"/>
          <a:lstStyle/>
          <a:p>
            <a:pPr indent="0" marL="0">
              <a:buNone/>
            </a:pPr>
            <a:r>
              <a:rPr lang="en-US" sz="1200" b="1" spc="350" kern="0" dirty="0">
                <a:solidFill>
                  <a:srgbClr val="93D500"/>
                </a:solidFill>
                <a:latin typeface="Calibri" pitchFamily="34" charset="0"/>
                <a:ea typeface="Calibri" pitchFamily="34" charset="-122"/>
                <a:cs typeface="Calibri" pitchFamily="34" charset="-120"/>
              </a:rPr>
              <a:t>THE COST OF AUDIT READINESS</a:t>
            </a:r>
            <a:endParaRPr lang="en-US" sz="1200" dirty="0"/>
          </a:p>
        </p:txBody>
      </p:sp>
      <p:sp>
        <p:nvSpPr>
          <p:cNvPr id="5" name="Text 2"/>
          <p:cNvSpPr/>
          <p:nvPr/>
        </p:nvSpPr>
        <p:spPr>
          <a:xfrm>
            <a:off x="777240" y="1143000"/>
            <a:ext cx="8686800" cy="822960"/>
          </a:xfrm>
          <a:prstGeom prst="rect">
            <a:avLst/>
          </a:prstGeom>
          <a:noFill/>
          <a:ln/>
        </p:spPr>
        <p:txBody>
          <a:bodyPr wrap="square" lIns="0" tIns="0" rIns="0" bIns="0" rtlCol="0" anchor="ctr"/>
          <a:lstStyle/>
          <a:p>
            <a:pPr indent="0" marL="0">
              <a:buNone/>
            </a:pPr>
            <a:r>
              <a:rPr lang="en-US" sz="4400" dirty="0">
                <a:solidFill>
                  <a:srgbClr val="FFFFFF"/>
                </a:solidFill>
                <a:latin typeface="Calibri" pitchFamily="34" charset="0"/>
                <a:ea typeface="Calibri" pitchFamily="34" charset="-122"/>
                <a:cs typeface="Calibri" pitchFamily="34" charset="-120"/>
              </a:rPr>
              <a:t>It shows up </a:t>
            </a:r>
            <a:pPr indent="0" marL="0">
              <a:buNone/>
            </a:pPr>
            <a:r>
              <a:rPr lang="en-US" sz="4400" b="1" dirty="0">
                <a:solidFill>
                  <a:srgbClr val="93D500"/>
                </a:solidFill>
                <a:latin typeface="Calibri" pitchFamily="34" charset="0"/>
                <a:ea typeface="Calibri" pitchFamily="34" charset="-122"/>
                <a:cs typeface="Calibri" pitchFamily="34" charset="-120"/>
              </a:rPr>
              <a:t>everywhere.</a:t>
            </a:r>
            <a:endParaRPr lang="en-US" sz="4400" dirty="0"/>
          </a:p>
        </p:txBody>
      </p:sp>
      <p:sp>
        <p:nvSpPr>
          <p:cNvPr id="6" name="Shape 3"/>
          <p:cNvSpPr/>
          <p:nvPr/>
        </p:nvSpPr>
        <p:spPr>
          <a:xfrm>
            <a:off x="777240" y="2331720"/>
            <a:ext cx="3291840" cy="2514600"/>
          </a:xfrm>
          <a:prstGeom prst="roundRect">
            <a:avLst>
              <a:gd name="adj" fmla="val 3636"/>
            </a:avLst>
          </a:prstGeom>
          <a:solidFill>
            <a:srgbClr val="1B1B1B"/>
          </a:solidFill>
          <a:ln/>
        </p:spPr>
      </p:sp>
      <p:pic>
        <p:nvPicPr>
          <p:cNvPr id="7" name="Image 1" descr="preencoded.png">    </p:cNvPr>
          <p:cNvPicPr>
            <a:picLocks noChangeAspect="1"/>
          </p:cNvPicPr>
          <p:nvPr/>
        </p:nvPicPr>
        <p:blipFill>
          <a:blip r:embed="rId2"/>
          <a:stretch>
            <a:fillRect/>
          </a:stretch>
        </p:blipFill>
        <p:spPr>
          <a:xfrm>
            <a:off x="1097280" y="2697480"/>
            <a:ext cx="502920" cy="502920"/>
          </a:xfrm>
          <a:prstGeom prst="rect">
            <a:avLst/>
          </a:prstGeom>
        </p:spPr>
      </p:pic>
      <p:sp>
        <p:nvSpPr>
          <p:cNvPr id="8" name="Text 4"/>
          <p:cNvSpPr/>
          <p:nvPr/>
        </p:nvSpPr>
        <p:spPr>
          <a:xfrm>
            <a:off x="1097280" y="3364992"/>
            <a:ext cx="27432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Cycle time</a:t>
            </a:r>
            <a:endParaRPr lang="en-US" sz="2000" dirty="0"/>
          </a:p>
        </p:txBody>
      </p:sp>
      <p:sp>
        <p:nvSpPr>
          <p:cNvPr id="9" name="Text 5"/>
          <p:cNvSpPr/>
          <p:nvPr/>
        </p:nvSpPr>
        <p:spPr>
          <a:xfrm>
            <a:off x="1097280" y="3785616"/>
            <a:ext cx="2697480" cy="914400"/>
          </a:xfrm>
          <a:prstGeom prst="rect">
            <a:avLst/>
          </a:prstGeom>
          <a:noFill/>
          <a:ln/>
        </p:spPr>
        <p:txBody>
          <a:bodyPr wrap="square" lIns="0" tIns="0" rIns="0" bIns="0" rtlCol="0" anchor="ctr"/>
          <a:lstStyle/>
          <a:p>
            <a:pPr indent="0" marL="0">
              <a:lnSpc>
                <a:spcPts val="1700"/>
              </a:lnSpc>
              <a:buNone/>
            </a:pPr>
            <a:r>
              <a:rPr lang="en-US" sz="1300" dirty="0">
                <a:solidFill>
                  <a:srgbClr val="9BA39C"/>
                </a:solidFill>
                <a:latin typeface="Calibri" pitchFamily="34" charset="0"/>
                <a:ea typeface="Calibri" pitchFamily="34" charset="-122"/>
                <a:cs typeface="Calibri" pitchFamily="34" charset="-120"/>
              </a:rPr>
              <a:t>Records requests bounce between inboxes for weeks.</a:t>
            </a:r>
            <a:endParaRPr lang="en-US" sz="1300" dirty="0"/>
          </a:p>
        </p:txBody>
      </p:sp>
      <p:sp>
        <p:nvSpPr>
          <p:cNvPr id="10" name="Shape 6"/>
          <p:cNvSpPr/>
          <p:nvPr/>
        </p:nvSpPr>
        <p:spPr>
          <a:xfrm>
            <a:off x="4389120" y="2331720"/>
            <a:ext cx="3291840" cy="2514600"/>
          </a:xfrm>
          <a:prstGeom prst="roundRect">
            <a:avLst>
              <a:gd name="adj" fmla="val 3636"/>
            </a:avLst>
          </a:prstGeom>
          <a:solidFill>
            <a:srgbClr val="1B1B1B"/>
          </a:solidFill>
          <a:ln/>
        </p:spPr>
      </p:sp>
      <p:pic>
        <p:nvPicPr>
          <p:cNvPr id="11" name="Image 2" descr="preencoded.png">    </p:cNvPr>
          <p:cNvPicPr>
            <a:picLocks noChangeAspect="1"/>
          </p:cNvPicPr>
          <p:nvPr/>
        </p:nvPicPr>
        <p:blipFill>
          <a:blip r:embed="rId3"/>
          <a:stretch>
            <a:fillRect/>
          </a:stretch>
        </p:blipFill>
        <p:spPr>
          <a:xfrm>
            <a:off x="4709160" y="2697480"/>
            <a:ext cx="502920" cy="502920"/>
          </a:xfrm>
          <a:prstGeom prst="rect">
            <a:avLst/>
          </a:prstGeom>
        </p:spPr>
      </p:pic>
      <p:sp>
        <p:nvSpPr>
          <p:cNvPr id="12" name="Text 7"/>
          <p:cNvSpPr/>
          <p:nvPr/>
        </p:nvSpPr>
        <p:spPr>
          <a:xfrm>
            <a:off x="4709160" y="3364992"/>
            <a:ext cx="27432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Audit findings</a:t>
            </a:r>
            <a:endParaRPr lang="en-US" sz="2000" dirty="0"/>
          </a:p>
        </p:txBody>
      </p:sp>
      <p:sp>
        <p:nvSpPr>
          <p:cNvPr id="13" name="Text 8"/>
          <p:cNvSpPr/>
          <p:nvPr/>
        </p:nvSpPr>
        <p:spPr>
          <a:xfrm>
            <a:off x="4709160" y="3785616"/>
            <a:ext cx="2697480" cy="914400"/>
          </a:xfrm>
          <a:prstGeom prst="rect">
            <a:avLst/>
          </a:prstGeom>
          <a:noFill/>
          <a:ln/>
        </p:spPr>
        <p:txBody>
          <a:bodyPr wrap="square" lIns="0" tIns="0" rIns="0" bIns="0" rtlCol="0" anchor="ctr"/>
          <a:lstStyle/>
          <a:p>
            <a:pPr indent="0" marL="0">
              <a:lnSpc>
                <a:spcPts val="1700"/>
              </a:lnSpc>
              <a:buNone/>
            </a:pPr>
            <a:r>
              <a:rPr lang="en-US" sz="1300" dirty="0">
                <a:solidFill>
                  <a:srgbClr val="9BA39C"/>
                </a:solidFill>
                <a:latin typeface="Calibri" pitchFamily="34" charset="0"/>
                <a:ea typeface="Calibri" pitchFamily="34" charset="-122"/>
                <a:cs typeface="Calibri" pitchFamily="34" charset="-120"/>
              </a:rPr>
              <a:t>Seven straight disclaimers of opinion since 2018.</a:t>
            </a:r>
            <a:endParaRPr lang="en-US" sz="1300" dirty="0"/>
          </a:p>
        </p:txBody>
      </p:sp>
      <p:sp>
        <p:nvSpPr>
          <p:cNvPr id="14" name="Shape 9"/>
          <p:cNvSpPr/>
          <p:nvPr/>
        </p:nvSpPr>
        <p:spPr>
          <a:xfrm>
            <a:off x="8001000" y="2331720"/>
            <a:ext cx="3291840" cy="2514600"/>
          </a:xfrm>
          <a:prstGeom prst="roundRect">
            <a:avLst>
              <a:gd name="adj" fmla="val 3636"/>
            </a:avLst>
          </a:prstGeom>
          <a:solidFill>
            <a:srgbClr val="1B1B1B"/>
          </a:solidFill>
          <a:ln/>
        </p:spPr>
      </p:sp>
      <p:pic>
        <p:nvPicPr>
          <p:cNvPr id="15" name="Image 3" descr="preencoded.png">    </p:cNvPr>
          <p:cNvPicPr>
            <a:picLocks noChangeAspect="1"/>
          </p:cNvPicPr>
          <p:nvPr/>
        </p:nvPicPr>
        <p:blipFill>
          <a:blip r:embed="rId4"/>
          <a:stretch>
            <a:fillRect/>
          </a:stretch>
        </p:blipFill>
        <p:spPr>
          <a:xfrm>
            <a:off x="8321040" y="2697480"/>
            <a:ext cx="502920" cy="502920"/>
          </a:xfrm>
          <a:prstGeom prst="rect">
            <a:avLst/>
          </a:prstGeom>
        </p:spPr>
      </p:pic>
      <p:sp>
        <p:nvSpPr>
          <p:cNvPr id="16" name="Text 10"/>
          <p:cNvSpPr/>
          <p:nvPr/>
        </p:nvSpPr>
        <p:spPr>
          <a:xfrm>
            <a:off x="8321040" y="3364992"/>
            <a:ext cx="27432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Lost analyst hours</a:t>
            </a:r>
            <a:endParaRPr lang="en-US" sz="2000" dirty="0"/>
          </a:p>
        </p:txBody>
      </p:sp>
      <p:sp>
        <p:nvSpPr>
          <p:cNvPr id="17" name="Text 11"/>
          <p:cNvSpPr/>
          <p:nvPr/>
        </p:nvSpPr>
        <p:spPr>
          <a:xfrm>
            <a:off x="8321040" y="3785616"/>
            <a:ext cx="2697480" cy="914400"/>
          </a:xfrm>
          <a:prstGeom prst="rect">
            <a:avLst/>
          </a:prstGeom>
          <a:noFill/>
          <a:ln/>
        </p:spPr>
        <p:txBody>
          <a:bodyPr wrap="square" lIns="0" tIns="0" rIns="0" bIns="0" rtlCol="0" anchor="ctr"/>
          <a:lstStyle/>
          <a:p>
            <a:pPr indent="0" marL="0">
              <a:lnSpc>
                <a:spcPts val="1700"/>
              </a:lnSpc>
              <a:buNone/>
            </a:pPr>
            <a:r>
              <a:rPr lang="en-US" sz="1300" dirty="0">
                <a:solidFill>
                  <a:srgbClr val="9BA39C"/>
                </a:solidFill>
                <a:latin typeface="Calibri" pitchFamily="34" charset="0"/>
                <a:ea typeface="Calibri" pitchFamily="34" charset="-122"/>
                <a:cs typeface="Calibri" pitchFamily="34" charset="-120"/>
              </a:rPr>
              <a:t>Weeks spent searching shared drives instead of doing analysis.</a:t>
            </a:r>
            <a:endParaRPr lang="en-US" sz="1300" dirty="0"/>
          </a:p>
        </p:txBody>
      </p:sp>
      <p:sp>
        <p:nvSpPr>
          <p:cNvPr id="18" name="Text 12"/>
          <p:cNvSpPr/>
          <p:nvPr/>
        </p:nvSpPr>
        <p:spPr>
          <a:xfrm>
            <a:off x="777240" y="5166360"/>
            <a:ext cx="10058400" cy="3200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$4.1T in assets under audit  ·  audit work exceeding $1B a year</a:t>
            </a:r>
            <a:endParaRPr lang="en-US" sz="1500" dirty="0"/>
          </a:p>
        </p:txBody>
      </p:sp>
      <p:sp>
        <p:nvSpPr>
          <p:cNvPr id="19" name="Text 13"/>
          <p:cNvSpPr/>
          <p:nvPr/>
        </p:nvSpPr>
        <p:spPr>
          <a:xfrm>
            <a:off x="777240" y="5532120"/>
            <a:ext cx="10058400" cy="274320"/>
          </a:xfrm>
          <a:prstGeom prst="rect">
            <a:avLst/>
          </a:prstGeom>
          <a:noFill/>
          <a:ln/>
        </p:spPr>
        <p:txBody>
          <a:bodyPr wrap="square" lIns="0" tIns="0" rIns="0" bIns="0" rtlCol="0" anchor="ctr"/>
          <a:lstStyle/>
          <a:p>
            <a:pPr indent="0" marL="0">
              <a:buNone/>
            </a:pPr>
            <a:r>
              <a:rPr lang="en-US" sz="1100" i="1" dirty="0">
                <a:solidFill>
                  <a:srgbClr val="6E7670"/>
                </a:solidFill>
                <a:latin typeface="Calibri" pitchFamily="34" charset="0"/>
                <a:ea typeface="Calibri" pitchFamily="34" charset="-122"/>
                <a:cs typeface="Calibri" pitchFamily="34" charset="-120"/>
              </a:rPr>
              <a:t>Source: DoD FY2024 Financial Statement Audit, DoD Office of Inspector General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921240" y="548640"/>
            <a:ext cx="324964" cy="384048"/>
          </a:xfrm>
          <a:prstGeom prst="rect">
            <a:avLst/>
          </a:prstGeom>
        </p:spPr>
      </p:pic>
      <p:sp>
        <p:nvSpPr>
          <p:cNvPr id="3" name="Text 0"/>
          <p:cNvSpPr/>
          <p:nvPr/>
        </p:nvSpPr>
        <p:spPr>
          <a:xfrm>
            <a:off x="10355932" y="521208"/>
            <a:ext cx="1554480" cy="438912"/>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Guidehouse</a:t>
            </a:r>
            <a:endParaRPr lang="en-US" sz="1900" dirty="0"/>
          </a:p>
        </p:txBody>
      </p:sp>
      <p:sp>
        <p:nvSpPr>
          <p:cNvPr id="4" name="Text 1"/>
          <p:cNvSpPr/>
          <p:nvPr/>
        </p:nvSpPr>
        <p:spPr>
          <a:xfrm>
            <a:off x="777240" y="566928"/>
            <a:ext cx="7315200" cy="274320"/>
          </a:xfrm>
          <a:prstGeom prst="rect">
            <a:avLst/>
          </a:prstGeom>
          <a:noFill/>
          <a:ln/>
        </p:spPr>
        <p:txBody>
          <a:bodyPr wrap="square" lIns="0" tIns="0" rIns="0" bIns="0" rtlCol="0" anchor="ctr"/>
          <a:lstStyle/>
          <a:p>
            <a:pPr indent="0" marL="0">
              <a:buNone/>
            </a:pPr>
            <a:r>
              <a:rPr lang="en-US" sz="1200" b="1" spc="350" kern="0" dirty="0">
                <a:solidFill>
                  <a:srgbClr val="93D500"/>
                </a:solidFill>
                <a:latin typeface="Calibri" pitchFamily="34" charset="0"/>
                <a:ea typeface="Calibri" pitchFamily="34" charset="-122"/>
                <a:cs typeface="Calibri" pitchFamily="34" charset="-120"/>
              </a:rPr>
              <a:t>READINESS &amp; ACQUISITION</a:t>
            </a:r>
            <a:endParaRPr lang="en-US" sz="1200" dirty="0"/>
          </a:p>
        </p:txBody>
      </p:sp>
      <p:sp>
        <p:nvSpPr>
          <p:cNvPr id="5" name="Shape 2"/>
          <p:cNvSpPr/>
          <p:nvPr/>
        </p:nvSpPr>
        <p:spPr>
          <a:xfrm>
            <a:off x="868680" y="1417320"/>
            <a:ext cx="2743200" cy="2743200"/>
          </a:xfrm>
          <a:prstGeom prst="ellipse">
            <a:avLst/>
          </a:prstGeom>
          <a:solidFill>
            <a:srgbClr val="1B1B1B"/>
          </a:solidFill>
          <a:ln w="31750">
            <a:solidFill>
              <a:srgbClr val="93D500"/>
            </a:solidFill>
            <a:prstDash val="solid"/>
          </a:ln>
        </p:spPr>
      </p:sp>
      <p:sp>
        <p:nvSpPr>
          <p:cNvPr id="6" name="Text 3"/>
          <p:cNvSpPr/>
          <p:nvPr/>
        </p:nvSpPr>
        <p:spPr>
          <a:xfrm>
            <a:off x="868680" y="1828800"/>
            <a:ext cx="2743200" cy="274320"/>
          </a:xfrm>
          <a:prstGeom prst="rect">
            <a:avLst/>
          </a:prstGeom>
          <a:noFill/>
          <a:ln/>
        </p:spPr>
        <p:txBody>
          <a:bodyPr wrap="square" lIns="0" tIns="0" rIns="0" bIns="0" rtlCol="0" anchor="ctr"/>
          <a:lstStyle/>
          <a:p>
            <a:pPr algn="ctr" indent="0" marL="0">
              <a:buNone/>
            </a:pPr>
            <a:r>
              <a:rPr lang="en-US" sz="1300" b="1" spc="200" kern="0" dirty="0">
                <a:solidFill>
                  <a:srgbClr val="93D500"/>
                </a:solidFill>
                <a:latin typeface="Calibri" pitchFamily="34" charset="0"/>
                <a:ea typeface="Calibri" pitchFamily="34" charset="-122"/>
                <a:cs typeface="Calibri" pitchFamily="34" charset="-120"/>
              </a:rPr>
              <a:t>TRL</a:t>
            </a:r>
            <a:endParaRPr lang="en-US" sz="1300" dirty="0"/>
          </a:p>
        </p:txBody>
      </p:sp>
      <p:sp>
        <p:nvSpPr>
          <p:cNvPr id="7" name="Text 4"/>
          <p:cNvSpPr/>
          <p:nvPr/>
        </p:nvSpPr>
        <p:spPr>
          <a:xfrm>
            <a:off x="868680" y="2084832"/>
            <a:ext cx="2743200" cy="1042416"/>
          </a:xfrm>
          <a:prstGeom prst="rect">
            <a:avLst/>
          </a:prstGeom>
          <a:noFill/>
          <a:ln/>
        </p:spPr>
        <p:txBody>
          <a:bodyPr wrap="square" lIns="0" tIns="0" rIns="0" bIns="0" rtlCol="0" anchor="ctr"/>
          <a:lstStyle/>
          <a:p>
            <a:pPr algn="ctr" indent="0" marL="0">
              <a:buNone/>
            </a:pPr>
            <a:r>
              <a:rPr lang="en-US" sz="6000" b="1" dirty="0">
                <a:solidFill>
                  <a:srgbClr val="FFFFFF"/>
                </a:solidFill>
                <a:latin typeface="Calibri" pitchFamily="34" charset="0"/>
                <a:ea typeface="Calibri" pitchFamily="34" charset="-122"/>
                <a:cs typeface="Calibri" pitchFamily="34" charset="-120"/>
              </a:rPr>
              <a:t>5-6</a:t>
            </a:r>
            <a:endParaRPr lang="en-US" sz="6000" dirty="0"/>
          </a:p>
        </p:txBody>
      </p:sp>
      <p:sp>
        <p:nvSpPr>
          <p:cNvPr id="8" name="Text 5"/>
          <p:cNvSpPr/>
          <p:nvPr/>
        </p:nvSpPr>
        <p:spPr>
          <a:xfrm>
            <a:off x="960120" y="3163824"/>
            <a:ext cx="2560320" cy="640080"/>
          </a:xfrm>
          <a:prstGeom prst="rect">
            <a:avLst/>
          </a:prstGeom>
          <a:noFill/>
          <a:ln/>
        </p:spPr>
        <p:txBody>
          <a:bodyPr wrap="square" lIns="0" tIns="0" rIns="0" bIns="0" rtlCol="0" anchor="ctr"/>
          <a:lstStyle/>
          <a:p>
            <a:pPr algn="ctr" indent="0" marL="0">
              <a:lnSpc>
                <a:spcPts val="1400"/>
              </a:lnSpc>
              <a:buNone/>
            </a:pPr>
            <a:r>
              <a:rPr lang="en-US" sz="1100" dirty="0">
                <a:solidFill>
                  <a:srgbClr val="9BA39C"/>
                </a:solidFill>
                <a:latin typeface="Calibri" pitchFamily="34" charset="0"/>
                <a:ea typeface="Calibri" pitchFamily="34" charset="-122"/>
                <a:cs typeface="Calibri" pitchFamily="34" charset="-120"/>
              </a:rPr>
              <a:t>System validated in</a:t>
            </a:r>
            <a:endParaRPr lang="en-US" sz="1100" dirty="0"/>
          </a:p>
          <a:p>
            <a:pPr algn="ctr" indent="0" marL="0">
              <a:lnSpc>
                <a:spcPts val="1400"/>
              </a:lnSpc>
              <a:buNone/>
            </a:pPr>
            <a:r>
              <a:rPr lang="en-US" sz="1100" dirty="0">
                <a:solidFill>
                  <a:srgbClr val="9BA39C"/>
                </a:solidFill>
                <a:latin typeface="Calibri" pitchFamily="34" charset="0"/>
                <a:ea typeface="Calibri" pitchFamily="34" charset="-122"/>
                <a:cs typeface="Calibri" pitchFamily="34" charset="-120"/>
              </a:rPr>
              <a:t>a relevant environment</a:t>
            </a:r>
            <a:endParaRPr lang="en-US" sz="1100" dirty="0"/>
          </a:p>
        </p:txBody>
      </p:sp>
      <p:sp>
        <p:nvSpPr>
          <p:cNvPr id="9" name="Text 6"/>
          <p:cNvSpPr/>
          <p:nvPr/>
        </p:nvSpPr>
        <p:spPr>
          <a:xfrm>
            <a:off x="4160520" y="1463040"/>
            <a:ext cx="7315200" cy="320040"/>
          </a:xfrm>
          <a:prstGeom prst="rect">
            <a:avLst/>
          </a:prstGeom>
          <a:noFill/>
          <a:ln/>
        </p:spPr>
        <p:txBody>
          <a:bodyPr wrap="square" lIns="0" tIns="0" rIns="0" bIns="0" rtlCol="0" anchor="ctr"/>
          <a:lstStyle/>
          <a:p>
            <a:pPr indent="0" marL="0">
              <a:buNone/>
            </a:pPr>
            <a:r>
              <a:rPr lang="en-US" sz="1500" b="1" dirty="0">
                <a:solidFill>
                  <a:srgbClr val="93D500"/>
                </a:solidFill>
                <a:latin typeface="Calibri" pitchFamily="34" charset="0"/>
                <a:ea typeface="Calibri" pitchFamily="34" charset="-122"/>
                <a:cs typeface="Calibri" pitchFamily="34" charset="-120"/>
              </a:rPr>
              <a:t>A proven, production-deployed product</a:t>
            </a:r>
            <a:endParaRPr lang="en-US" sz="1500" dirty="0"/>
          </a:p>
        </p:txBody>
      </p:sp>
      <p:sp>
        <p:nvSpPr>
          <p:cNvPr id="10" name="Text 7"/>
          <p:cNvSpPr/>
          <p:nvPr/>
        </p:nvSpPr>
        <p:spPr>
          <a:xfrm>
            <a:off x="4160520" y="1874520"/>
            <a:ext cx="7498080" cy="1463040"/>
          </a:xfrm>
          <a:prstGeom prst="rect">
            <a:avLst/>
          </a:prstGeom>
          <a:noFill/>
          <a:ln/>
        </p:spPr>
        <p:txBody>
          <a:bodyPr wrap="square" lIns="0" tIns="0" rIns="0" bIns="0" rtlCol="0" anchor="ctr"/>
          <a:lstStyle/>
          <a:p>
            <a:pPr indent="0" marL="0">
              <a:lnSpc>
                <a:spcPts val="5000"/>
              </a:lnSpc>
              <a:buNone/>
            </a:pPr>
            <a:r>
              <a:rPr lang="en-US" sz="4200" dirty="0">
                <a:solidFill>
                  <a:srgbClr val="FFFFFF"/>
                </a:solidFill>
                <a:latin typeface="Calibri" pitchFamily="34" charset="0"/>
                <a:ea typeface="Calibri" pitchFamily="34" charset="-122"/>
                <a:cs typeface="Calibri" pitchFamily="34" charset="-120"/>
              </a:rPr>
              <a:t>Mature technology,
</a:t>
            </a:r>
            <a:pPr indent="0" marL="0">
              <a:lnSpc>
                <a:spcPts val="5000"/>
              </a:lnSpc>
              <a:buNone/>
            </a:pPr>
            <a:r>
              <a:rPr lang="en-US" sz="4200" b="1" dirty="0">
                <a:solidFill>
                  <a:srgbClr val="FFFFFF"/>
                </a:solidFill>
                <a:latin typeface="Calibri" pitchFamily="34" charset="0"/>
                <a:ea typeface="Calibri" pitchFamily="34" charset="-122"/>
                <a:cs typeface="Calibri" pitchFamily="34" charset="-120"/>
              </a:rPr>
              <a:t>ready to acquire.</a:t>
            </a:r>
            <a:endParaRPr lang="en-US" sz="4200" dirty="0"/>
          </a:p>
        </p:txBody>
      </p:sp>
      <p:sp>
        <p:nvSpPr>
          <p:cNvPr id="11" name="Shape 8"/>
          <p:cNvSpPr/>
          <p:nvPr/>
        </p:nvSpPr>
        <p:spPr>
          <a:xfrm>
            <a:off x="4160520" y="3456432"/>
            <a:ext cx="4343400" cy="502920"/>
          </a:xfrm>
          <a:prstGeom prst="roundRect">
            <a:avLst>
              <a:gd name="adj" fmla="val 21818"/>
            </a:avLst>
          </a:prstGeom>
          <a:solidFill>
            <a:srgbClr val="2F7D32"/>
          </a:solidFill>
          <a:ln/>
        </p:spPr>
      </p:sp>
      <p:sp>
        <p:nvSpPr>
          <p:cNvPr id="12" name="Shape 9"/>
          <p:cNvSpPr/>
          <p:nvPr/>
        </p:nvSpPr>
        <p:spPr>
          <a:xfrm>
            <a:off x="4389120" y="3648456"/>
            <a:ext cx="128016" cy="128016"/>
          </a:xfrm>
          <a:prstGeom prst="ellipse">
            <a:avLst/>
          </a:prstGeom>
          <a:solidFill>
            <a:srgbClr val="93D500"/>
          </a:solidFill>
          <a:ln/>
        </p:spPr>
      </p:sp>
      <p:sp>
        <p:nvSpPr>
          <p:cNvPr id="13" name="Text 10"/>
          <p:cNvSpPr/>
          <p:nvPr/>
        </p:nvSpPr>
        <p:spPr>
          <a:xfrm>
            <a:off x="4617720" y="3456432"/>
            <a:ext cx="3840480" cy="5029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SBIR Phase III  ·  Sole-source eligible</a:t>
            </a:r>
            <a:endParaRPr lang="en-US" sz="1500" dirty="0"/>
          </a:p>
        </p:txBody>
      </p:sp>
      <p:pic>
        <p:nvPicPr>
          <p:cNvPr id="14" name="Image 1" descr="preencoded.png">    </p:cNvPr>
          <p:cNvPicPr>
            <a:picLocks noChangeAspect="1"/>
          </p:cNvPicPr>
          <p:nvPr/>
        </p:nvPicPr>
        <p:blipFill>
          <a:blip r:embed="rId2"/>
          <a:stretch>
            <a:fillRect/>
          </a:stretch>
        </p:blipFill>
        <p:spPr>
          <a:xfrm>
            <a:off x="868680" y="4800600"/>
            <a:ext cx="384048" cy="384048"/>
          </a:xfrm>
          <a:prstGeom prst="rect">
            <a:avLst/>
          </a:prstGeom>
        </p:spPr>
      </p:pic>
      <p:sp>
        <p:nvSpPr>
          <p:cNvPr id="15" name="Text 11"/>
          <p:cNvSpPr/>
          <p:nvPr/>
        </p:nvSpPr>
        <p:spPr>
          <a:xfrm>
            <a:off x="1417320" y="4754880"/>
            <a:ext cx="2926080" cy="29260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Proven</a:t>
            </a:r>
            <a:endParaRPr lang="en-US" sz="1700" dirty="0"/>
          </a:p>
        </p:txBody>
      </p:sp>
      <p:sp>
        <p:nvSpPr>
          <p:cNvPr id="16" name="Text 12"/>
          <p:cNvSpPr/>
          <p:nvPr/>
        </p:nvSpPr>
        <p:spPr>
          <a:xfrm>
            <a:off x="1417320" y="5065776"/>
            <a:ext cx="3017520" cy="548640"/>
          </a:xfrm>
          <a:prstGeom prst="rect">
            <a:avLst/>
          </a:prstGeom>
          <a:noFill/>
          <a:ln/>
        </p:spPr>
        <p:txBody>
          <a:bodyPr wrap="square" lIns="0" tIns="0" rIns="0" bIns="0" rtlCol="0" anchor="ctr"/>
          <a:lstStyle/>
          <a:p>
            <a:pPr indent="0" marL="0">
              <a:lnSpc>
                <a:spcPts val="1500"/>
              </a:lnSpc>
              <a:buNone/>
            </a:pPr>
            <a:r>
              <a:rPr lang="en-US" sz="1200" dirty="0">
                <a:solidFill>
                  <a:srgbClr val="9BA39C"/>
                </a:solidFill>
                <a:latin typeface="Calibri" pitchFamily="34" charset="0"/>
                <a:ea typeface="Calibri" pitchFamily="34" charset="-122"/>
                <a:cs typeface="Calibri" pitchFamily="34" charset="-120"/>
              </a:rPr>
              <a:t>In production across federal missions</a:t>
            </a:r>
            <a:endParaRPr lang="en-US" sz="1200" dirty="0"/>
          </a:p>
        </p:txBody>
      </p:sp>
      <p:pic>
        <p:nvPicPr>
          <p:cNvPr id="17" name="Image 2" descr="preencoded.png">    </p:cNvPr>
          <p:cNvPicPr>
            <a:picLocks noChangeAspect="1"/>
          </p:cNvPicPr>
          <p:nvPr/>
        </p:nvPicPr>
        <p:blipFill>
          <a:blip r:embed="rId3"/>
          <a:stretch>
            <a:fillRect/>
          </a:stretch>
        </p:blipFill>
        <p:spPr>
          <a:xfrm>
            <a:off x="4572000" y="4800600"/>
            <a:ext cx="384048" cy="384048"/>
          </a:xfrm>
          <a:prstGeom prst="rect">
            <a:avLst/>
          </a:prstGeom>
        </p:spPr>
      </p:pic>
      <p:sp>
        <p:nvSpPr>
          <p:cNvPr id="18" name="Text 13"/>
          <p:cNvSpPr/>
          <p:nvPr/>
        </p:nvSpPr>
        <p:spPr>
          <a:xfrm>
            <a:off x="5120640" y="4754880"/>
            <a:ext cx="2926080" cy="29260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Defensible</a:t>
            </a:r>
            <a:endParaRPr lang="en-US" sz="1700" dirty="0"/>
          </a:p>
        </p:txBody>
      </p:sp>
      <p:sp>
        <p:nvSpPr>
          <p:cNvPr id="19" name="Text 14"/>
          <p:cNvSpPr/>
          <p:nvPr/>
        </p:nvSpPr>
        <p:spPr>
          <a:xfrm>
            <a:off x="5120640" y="5065776"/>
            <a:ext cx="3017520" cy="548640"/>
          </a:xfrm>
          <a:prstGeom prst="rect">
            <a:avLst/>
          </a:prstGeom>
          <a:noFill/>
          <a:ln/>
        </p:spPr>
        <p:txBody>
          <a:bodyPr wrap="square" lIns="0" tIns="0" rIns="0" bIns="0" rtlCol="0" anchor="ctr"/>
          <a:lstStyle/>
          <a:p>
            <a:pPr indent="0" marL="0">
              <a:lnSpc>
                <a:spcPts val="1500"/>
              </a:lnSpc>
              <a:buNone/>
            </a:pPr>
            <a:r>
              <a:rPr lang="en-US" sz="1200" dirty="0">
                <a:solidFill>
                  <a:srgbClr val="9BA39C"/>
                </a:solidFill>
                <a:latin typeface="Calibri" pitchFamily="34" charset="0"/>
                <a:ea typeface="Calibri" pitchFamily="34" charset="-122"/>
                <a:cs typeface="Calibri" pitchFamily="34" charset="-120"/>
              </a:rPr>
              <a:t>Provenance on every delivered line</a:t>
            </a:r>
            <a:endParaRPr lang="en-US" sz="1200" dirty="0"/>
          </a:p>
        </p:txBody>
      </p:sp>
      <p:pic>
        <p:nvPicPr>
          <p:cNvPr id="20" name="Image 3" descr="preencoded.png">    </p:cNvPr>
          <p:cNvPicPr>
            <a:picLocks noChangeAspect="1"/>
          </p:cNvPicPr>
          <p:nvPr/>
        </p:nvPicPr>
        <p:blipFill>
          <a:blip r:embed="rId4"/>
          <a:stretch>
            <a:fillRect/>
          </a:stretch>
        </p:blipFill>
        <p:spPr>
          <a:xfrm>
            <a:off x="8275320" y="4800600"/>
            <a:ext cx="384048" cy="384048"/>
          </a:xfrm>
          <a:prstGeom prst="rect">
            <a:avLst/>
          </a:prstGeom>
        </p:spPr>
      </p:pic>
      <p:sp>
        <p:nvSpPr>
          <p:cNvPr id="21" name="Text 15"/>
          <p:cNvSpPr/>
          <p:nvPr/>
        </p:nvSpPr>
        <p:spPr>
          <a:xfrm>
            <a:off x="8823960" y="4754880"/>
            <a:ext cx="2926080" cy="29260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Scalable</a:t>
            </a:r>
            <a:endParaRPr lang="en-US" sz="1700" dirty="0"/>
          </a:p>
        </p:txBody>
      </p:sp>
      <p:sp>
        <p:nvSpPr>
          <p:cNvPr id="22" name="Text 16"/>
          <p:cNvSpPr/>
          <p:nvPr/>
        </p:nvSpPr>
        <p:spPr>
          <a:xfrm>
            <a:off x="8823960" y="5065776"/>
            <a:ext cx="3017520" cy="548640"/>
          </a:xfrm>
          <a:prstGeom prst="rect">
            <a:avLst/>
          </a:prstGeom>
          <a:noFill/>
          <a:ln/>
        </p:spPr>
        <p:txBody>
          <a:bodyPr wrap="square" lIns="0" tIns="0" rIns="0" bIns="0" rtlCol="0" anchor="ctr"/>
          <a:lstStyle/>
          <a:p>
            <a:pPr indent="0" marL="0">
              <a:lnSpc>
                <a:spcPts val="1500"/>
              </a:lnSpc>
              <a:buNone/>
            </a:pPr>
            <a:r>
              <a:rPr lang="en-US" sz="1200" dirty="0">
                <a:solidFill>
                  <a:srgbClr val="9BA39C"/>
                </a:solidFill>
                <a:latin typeface="Calibri" pitchFamily="34" charset="0"/>
                <a:ea typeface="Calibri" pitchFamily="34" charset="-122"/>
                <a:cs typeface="Calibri" pitchFamily="34" charset="-120"/>
              </a:rPr>
              <a:t>One program to an enterprise audit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921240" y="548640"/>
            <a:ext cx="324964" cy="384048"/>
          </a:xfrm>
          <a:prstGeom prst="rect">
            <a:avLst/>
          </a:prstGeom>
        </p:spPr>
      </p:pic>
      <p:sp>
        <p:nvSpPr>
          <p:cNvPr id="3" name="Text 0"/>
          <p:cNvSpPr/>
          <p:nvPr/>
        </p:nvSpPr>
        <p:spPr>
          <a:xfrm>
            <a:off x="10355932" y="521208"/>
            <a:ext cx="1554480" cy="438912"/>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Guidehouse</a:t>
            </a:r>
            <a:endParaRPr lang="en-US" sz="1900" dirty="0"/>
          </a:p>
        </p:txBody>
      </p:sp>
      <p:sp>
        <p:nvSpPr>
          <p:cNvPr id="4" name="Text 1"/>
          <p:cNvSpPr/>
          <p:nvPr/>
        </p:nvSpPr>
        <p:spPr>
          <a:xfrm>
            <a:off x="777240" y="566928"/>
            <a:ext cx="7315200" cy="274320"/>
          </a:xfrm>
          <a:prstGeom prst="rect">
            <a:avLst/>
          </a:prstGeom>
          <a:noFill/>
          <a:ln/>
        </p:spPr>
        <p:txBody>
          <a:bodyPr wrap="square" lIns="0" tIns="0" rIns="0" bIns="0" rtlCol="0" anchor="ctr"/>
          <a:lstStyle/>
          <a:p>
            <a:pPr indent="0" marL="0">
              <a:buNone/>
            </a:pPr>
            <a:r>
              <a:rPr lang="en-US" sz="1200" b="1" spc="350" kern="0" dirty="0">
                <a:solidFill>
                  <a:srgbClr val="93D500"/>
                </a:solidFill>
                <a:latin typeface="Calibri" pitchFamily="34" charset="0"/>
                <a:ea typeface="Calibri" pitchFamily="34" charset="-122"/>
                <a:cs typeface="Calibri" pitchFamily="34" charset="-120"/>
              </a:rPr>
              <a:t>GET IN TOUCH</a:t>
            </a:r>
            <a:endParaRPr lang="en-US" sz="1200" dirty="0"/>
          </a:p>
        </p:txBody>
      </p:sp>
      <p:sp>
        <p:nvSpPr>
          <p:cNvPr id="5" name="Text 2"/>
          <p:cNvSpPr/>
          <p:nvPr/>
        </p:nvSpPr>
        <p:spPr>
          <a:xfrm>
            <a:off x="777240" y="1234440"/>
            <a:ext cx="7498080" cy="1600200"/>
          </a:xfrm>
          <a:prstGeom prst="rect">
            <a:avLst/>
          </a:prstGeom>
          <a:noFill/>
          <a:ln/>
        </p:spPr>
        <p:txBody>
          <a:bodyPr wrap="square" lIns="0" tIns="0" rIns="0" bIns="0" rtlCol="0" anchor="ctr"/>
          <a:lstStyle/>
          <a:p>
            <a:pPr indent="0" marL="0">
              <a:lnSpc>
                <a:spcPts val="5400"/>
              </a:lnSpc>
              <a:buNone/>
            </a:pPr>
            <a:r>
              <a:rPr lang="en-US" sz="4600" dirty="0">
                <a:solidFill>
                  <a:srgbClr val="FFFFFF"/>
                </a:solidFill>
                <a:latin typeface="Calibri" pitchFamily="34" charset="0"/>
                <a:ea typeface="Calibri" pitchFamily="34" charset="-122"/>
                <a:cs typeface="Calibri" pitchFamily="34" charset="-120"/>
              </a:rPr>
              <a:t>Financial Management
</a:t>
            </a:r>
            <a:pPr indent="0" marL="0">
              <a:lnSpc>
                <a:spcPts val="5400"/>
              </a:lnSpc>
              <a:buNone/>
            </a:pPr>
            <a:r>
              <a:rPr lang="en-US" sz="4600" b="1" dirty="0">
                <a:solidFill>
                  <a:srgbClr val="FFFFFF"/>
                </a:solidFill>
                <a:latin typeface="Calibri" pitchFamily="34" charset="0"/>
                <a:ea typeface="Calibri" pitchFamily="34" charset="-122"/>
                <a:cs typeface="Calibri" pitchFamily="34" charset="-120"/>
              </a:rPr>
              <a:t>of the Future</a:t>
            </a:r>
            <a:endParaRPr lang="en-US" sz="4600" dirty="0"/>
          </a:p>
        </p:txBody>
      </p:sp>
      <p:sp>
        <p:nvSpPr>
          <p:cNvPr id="6" name="Text 3"/>
          <p:cNvSpPr/>
          <p:nvPr/>
        </p:nvSpPr>
        <p:spPr>
          <a:xfrm>
            <a:off x="777240" y="2926080"/>
            <a:ext cx="7315200" cy="50292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Audit-ready, </a:t>
            </a:r>
            <a:pPr indent="0" marL="0">
              <a:buNone/>
            </a:pPr>
            <a:r>
              <a:rPr lang="en-US" sz="2500" b="1" dirty="0">
                <a:solidFill>
                  <a:srgbClr val="93D500"/>
                </a:solidFill>
                <a:latin typeface="Calibri" pitchFamily="34" charset="0"/>
                <a:ea typeface="Calibri" pitchFamily="34" charset="-122"/>
                <a:cs typeface="Calibri" pitchFamily="34" charset="-120"/>
              </a:rPr>
              <a:t>every day.</a:t>
            </a:r>
            <a:endParaRPr lang="en-US" sz="2500" dirty="0"/>
          </a:p>
        </p:txBody>
      </p:sp>
      <p:sp>
        <p:nvSpPr>
          <p:cNvPr id="7" name="Text 4"/>
          <p:cNvSpPr/>
          <p:nvPr/>
        </p:nvSpPr>
        <p:spPr>
          <a:xfrm>
            <a:off x="777240" y="3566160"/>
            <a:ext cx="5669280" cy="822960"/>
          </a:xfrm>
          <a:prstGeom prst="rect">
            <a:avLst/>
          </a:prstGeom>
          <a:noFill/>
          <a:ln/>
        </p:spPr>
        <p:txBody>
          <a:bodyPr wrap="square" lIns="0" tIns="0" rIns="0" bIns="0" rtlCol="0" anchor="ctr"/>
          <a:lstStyle/>
          <a:p>
            <a:pPr indent="0" marL="0">
              <a:lnSpc>
                <a:spcPts val="2000"/>
              </a:lnSpc>
              <a:buNone/>
            </a:pPr>
            <a:r>
              <a:rPr lang="en-US" sz="1400" dirty="0">
                <a:solidFill>
                  <a:srgbClr val="9BA39C"/>
                </a:solidFill>
                <a:latin typeface="Calibri" pitchFamily="34" charset="0"/>
                <a:ea typeface="Calibri" pitchFamily="34" charset="-122"/>
                <a:cs typeface="Calibri" pitchFamily="34" charset="-120"/>
              </a:rPr>
              <a:t>Agentic Reconciliation and the PBC Request Agent: one product, one audit-ready pipeline, running in production today.</a:t>
            </a:r>
            <a:endParaRPr lang="en-US" sz="1400" dirty="0"/>
          </a:p>
        </p:txBody>
      </p:sp>
      <p:sp>
        <p:nvSpPr>
          <p:cNvPr id="8" name="Text 5"/>
          <p:cNvSpPr/>
          <p:nvPr/>
        </p:nvSpPr>
        <p:spPr>
          <a:xfrm>
            <a:off x="777240" y="4572000"/>
            <a:ext cx="3657600" cy="256032"/>
          </a:xfrm>
          <a:prstGeom prst="rect">
            <a:avLst/>
          </a:prstGeom>
          <a:noFill/>
          <a:ln/>
        </p:spPr>
        <p:txBody>
          <a:bodyPr wrap="square" lIns="0" tIns="0" rIns="0" bIns="0" rtlCol="0" anchor="ctr"/>
          <a:lstStyle/>
          <a:p>
            <a:pPr indent="0" marL="0">
              <a:buNone/>
            </a:pPr>
            <a:r>
              <a:rPr lang="en-US" sz="1100" b="1" spc="250" kern="0" dirty="0">
                <a:solidFill>
                  <a:srgbClr val="93D500"/>
                </a:solidFill>
                <a:latin typeface="Calibri" pitchFamily="34" charset="0"/>
                <a:ea typeface="Calibri" pitchFamily="34" charset="-122"/>
                <a:cs typeface="Calibri" pitchFamily="34" charset="-120"/>
              </a:rPr>
              <a:t>FIND US ON</a:t>
            </a:r>
            <a:endParaRPr lang="en-US" sz="1100" dirty="0"/>
          </a:p>
        </p:txBody>
      </p:sp>
      <p:sp>
        <p:nvSpPr>
          <p:cNvPr id="9" name="Text 6"/>
          <p:cNvSpPr/>
          <p:nvPr/>
        </p:nvSpPr>
        <p:spPr>
          <a:xfrm>
            <a:off x="777240" y="4846320"/>
            <a:ext cx="548640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CDAO Tradewinds Solutions Marketplace</a:t>
            </a:r>
            <a:endParaRPr lang="en-US" sz="1600" dirty="0"/>
          </a:p>
        </p:txBody>
      </p:sp>
      <p:sp>
        <p:nvSpPr>
          <p:cNvPr id="10" name="Text 7"/>
          <p:cNvSpPr/>
          <p:nvPr/>
        </p:nvSpPr>
        <p:spPr>
          <a:xfrm>
            <a:off x="777240" y="5157216"/>
            <a:ext cx="5486400" cy="274320"/>
          </a:xfrm>
          <a:prstGeom prst="rect">
            <a:avLst/>
          </a:prstGeom>
          <a:noFill/>
          <a:ln/>
        </p:spPr>
        <p:txBody>
          <a:bodyPr wrap="square" lIns="0" tIns="0" rIns="0" bIns="0" rtlCol="0" anchor="ctr"/>
          <a:lstStyle/>
          <a:p>
            <a:pPr indent="0" marL="0">
              <a:buNone/>
            </a:pPr>
            <a:r>
              <a:rPr lang="en-US" sz="1500" dirty="0">
                <a:solidFill>
                  <a:srgbClr val="9BA39C"/>
                </a:solidFill>
                <a:latin typeface="Calibri" pitchFamily="34" charset="0"/>
                <a:ea typeface="Calibri" pitchFamily="34" charset="-122"/>
                <a:cs typeface="Calibri" pitchFamily="34" charset="-120"/>
              </a:rPr>
              <a:t>SBIR/STTR Aisle</a:t>
            </a:r>
            <a:endParaRPr lang="en-US" sz="1500" dirty="0"/>
          </a:p>
        </p:txBody>
      </p:sp>
      <p:sp>
        <p:nvSpPr>
          <p:cNvPr id="11" name="Text 8"/>
          <p:cNvSpPr/>
          <p:nvPr/>
        </p:nvSpPr>
        <p:spPr>
          <a:xfrm>
            <a:off x="6766560" y="4572000"/>
            <a:ext cx="3657600" cy="256032"/>
          </a:xfrm>
          <a:prstGeom prst="rect">
            <a:avLst/>
          </a:prstGeom>
          <a:noFill/>
          <a:ln/>
        </p:spPr>
        <p:txBody>
          <a:bodyPr wrap="square" lIns="0" tIns="0" rIns="0" bIns="0" rtlCol="0" anchor="ctr"/>
          <a:lstStyle/>
          <a:p>
            <a:pPr indent="0" marL="0">
              <a:buNone/>
            </a:pPr>
            <a:r>
              <a:rPr lang="en-US" sz="1100" b="1" spc="250" kern="0" dirty="0">
                <a:solidFill>
                  <a:srgbClr val="93D500"/>
                </a:solidFill>
                <a:latin typeface="Calibri" pitchFamily="34" charset="0"/>
                <a:ea typeface="Calibri" pitchFamily="34" charset="-122"/>
                <a:cs typeface="Calibri" pitchFamily="34" charset="-120"/>
              </a:rPr>
              <a:t>CONTACT</a:t>
            </a:r>
            <a:endParaRPr lang="en-US" sz="1100" dirty="0"/>
          </a:p>
        </p:txBody>
      </p:sp>
      <p:sp>
        <p:nvSpPr>
          <p:cNvPr id="12" name="Text 9"/>
          <p:cNvSpPr/>
          <p:nvPr/>
        </p:nvSpPr>
        <p:spPr>
          <a:xfrm>
            <a:off x="6766560" y="4846320"/>
            <a:ext cx="384048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[POINT OF CONTACT NAME]</a:t>
            </a:r>
            <a:endParaRPr lang="en-US" sz="1600" dirty="0"/>
          </a:p>
        </p:txBody>
      </p:sp>
      <p:sp>
        <p:nvSpPr>
          <p:cNvPr id="13" name="Text 10"/>
          <p:cNvSpPr/>
          <p:nvPr/>
        </p:nvSpPr>
        <p:spPr>
          <a:xfrm>
            <a:off x="6766560" y="5157216"/>
            <a:ext cx="4206240" cy="274320"/>
          </a:xfrm>
          <a:prstGeom prst="rect">
            <a:avLst/>
          </a:prstGeom>
          <a:noFill/>
          <a:ln/>
        </p:spPr>
        <p:txBody>
          <a:bodyPr wrap="square" lIns="0" tIns="0" rIns="0" bIns="0" rtlCol="0" anchor="ctr"/>
          <a:lstStyle/>
          <a:p>
            <a:pPr indent="0" marL="0">
              <a:buNone/>
            </a:pPr>
            <a:r>
              <a:rPr lang="en-US" sz="1500" dirty="0">
                <a:solidFill>
                  <a:srgbClr val="9BA39C"/>
                </a:solidFill>
                <a:latin typeface="Calibri" pitchFamily="34" charset="0"/>
                <a:ea typeface="Calibri" pitchFamily="34" charset="-122"/>
                <a:cs typeface="Calibri" pitchFamily="34" charset="-120"/>
              </a:rPr>
              <a:t>[name@guidehouse.com]  ·  [phone]</a:t>
            </a:r>
            <a:endParaRPr lang="en-US" sz="1500" dirty="0"/>
          </a:p>
        </p:txBody>
      </p:sp>
      <p:sp>
        <p:nvSpPr>
          <p:cNvPr id="14" name="Shape 11"/>
          <p:cNvSpPr/>
          <p:nvPr/>
        </p:nvSpPr>
        <p:spPr>
          <a:xfrm>
            <a:off x="10195560" y="3063240"/>
            <a:ext cx="1325880" cy="1325880"/>
          </a:xfrm>
          <a:prstGeom prst="roundRect">
            <a:avLst>
              <a:gd name="adj" fmla="val 4138"/>
            </a:avLst>
          </a:prstGeom>
          <a:solidFill>
            <a:srgbClr val="1B1B1B"/>
          </a:solidFill>
          <a:ln w="12700">
            <a:solidFill>
              <a:srgbClr val="6E7670"/>
            </a:solidFill>
            <a:prstDash val="solid"/>
          </a:ln>
        </p:spPr>
      </p:sp>
      <p:sp>
        <p:nvSpPr>
          <p:cNvPr id="15" name="Text 12"/>
          <p:cNvSpPr/>
          <p:nvPr/>
        </p:nvSpPr>
        <p:spPr>
          <a:xfrm>
            <a:off x="10195560" y="3520440"/>
            <a:ext cx="1325880" cy="411480"/>
          </a:xfrm>
          <a:prstGeom prst="rect">
            <a:avLst/>
          </a:prstGeom>
          <a:noFill/>
          <a:ln/>
        </p:spPr>
        <p:txBody>
          <a:bodyPr wrap="square" lIns="0" tIns="0" rIns="0" bIns="0" rtlCol="0" anchor="ctr"/>
          <a:lstStyle/>
          <a:p>
            <a:pPr algn="ctr" indent="0" marL="0">
              <a:buNone/>
            </a:pPr>
            <a:r>
              <a:rPr lang="en-US" sz="1500" b="1" dirty="0">
                <a:solidFill>
                  <a:srgbClr val="6E7670"/>
                </a:solidFill>
                <a:latin typeface="Calibri" pitchFamily="34" charset="0"/>
                <a:ea typeface="Calibri" pitchFamily="34" charset="-122"/>
                <a:cs typeface="Calibri" pitchFamily="34" charset="-120"/>
              </a:rPr>
              <a:t>QR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892040" y="1965960"/>
            <a:ext cx="1199271" cy="1417320"/>
          </a:xfrm>
          <a:prstGeom prst="rect">
            <a:avLst/>
          </a:prstGeom>
        </p:spPr>
      </p:pic>
      <p:sp>
        <p:nvSpPr>
          <p:cNvPr id="3" name="Text 0"/>
          <p:cNvSpPr/>
          <p:nvPr/>
        </p:nvSpPr>
        <p:spPr>
          <a:xfrm>
            <a:off x="3355848" y="3657600"/>
            <a:ext cx="5486400" cy="64008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Guidehouse</a:t>
            </a:r>
            <a:endParaRPr lang="en-US" sz="4000" dirty="0"/>
          </a:p>
        </p:txBody>
      </p:sp>
      <p:sp>
        <p:nvSpPr>
          <p:cNvPr id="4" name="Text 1"/>
          <p:cNvSpPr/>
          <p:nvPr/>
        </p:nvSpPr>
        <p:spPr>
          <a:xfrm>
            <a:off x="2898648" y="4434840"/>
            <a:ext cx="6400800" cy="365760"/>
          </a:xfrm>
          <a:prstGeom prst="rect">
            <a:avLst/>
          </a:prstGeom>
          <a:noFill/>
          <a:ln/>
        </p:spPr>
        <p:txBody>
          <a:bodyPr wrap="square" lIns="0" tIns="0" rIns="0" bIns="0" rtlCol="0" anchor="ctr"/>
          <a:lstStyle/>
          <a:p>
            <a:pPr algn="ctr" indent="0" marL="0">
              <a:buNone/>
            </a:pPr>
            <a:r>
              <a:rPr lang="en-US" sz="1700" dirty="0">
                <a:solidFill>
                  <a:srgbClr val="93D500"/>
                </a:solidFill>
                <a:latin typeface="Calibri" pitchFamily="34" charset="0"/>
                <a:ea typeface="Calibri" pitchFamily="34" charset="-122"/>
                <a:cs typeface="Calibri" pitchFamily="34" charset="-120"/>
              </a:rPr>
              <a:t>Mission-ready innovation.  Audit-ready every day.</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 of the Future - Tradewinds video graphics</dc:title>
  <dc:subject>PptxGenJS Presentation</dc:subject>
  <dc:creator>Guidehouse</dc:creator>
  <cp:lastModifiedBy>Guidehouse</cp:lastModifiedBy>
  <cp:revision>1</cp:revision>
  <dcterms:created xsi:type="dcterms:W3CDTF">2026-07-30T15:35:21Z</dcterms:created>
  <dcterms:modified xsi:type="dcterms:W3CDTF">2026-07-30T15:35:21Z</dcterms:modified>
</cp:coreProperties>
</file>